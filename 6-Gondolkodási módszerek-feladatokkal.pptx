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9.xml.rels" ContentType="application/vnd.openxmlformats-package.relationships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3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Click to move the slide</a:t>
            </a:r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D707A95-9B77-4FA8-B972-41E192172D4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hu-HU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E26EB1-4F8A-443B-AD92-6B584E6C42D0}" type="slidenum">
              <a:rPr b="0" lang="hu-HU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hu-HU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7A0ABE-4EA6-4DD7-A82E-B6164D92AC57}" type="slidenum">
              <a:rPr b="0" lang="hu-HU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C3ECAF-668E-4ABC-9574-4956C86860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0CCE05-5770-4262-8A3B-4CA936BC89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5FEC35-7A17-4901-9C90-92F493741C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5A15A3-FA56-4EDE-ADB4-0135D027C2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5C4D9E-E65E-4E47-8215-16A1A3D8ED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114EF4-F9E5-4F38-A20A-D804770CF4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E13910-6107-4953-B100-C58C726395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BA9362-9183-4696-A22C-D80C70D419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FAACE-3BCA-4AC0-A354-025D557F29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389D8C-43CD-4334-B4DC-60260EE71F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72F0C5-6CA5-4E60-9789-6E705E5F22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AC593C-EF46-48BB-AA66-6E84E505E7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625132-2595-48D1-B3D1-BF330CEFD6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FF8BE2-A640-4EAE-8A43-D264591EA0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52381E-939C-4E6A-9DAD-8C1482A234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C0048A-DDDB-4A4B-B278-0A8C4DCC94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9F12AD-5C57-4628-B225-7EBCFD46A1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660189-5C5F-49BD-A5BD-675D1F3F73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6E4777-E03D-46B9-9C9A-131E321E24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4A190D-C4C5-4E56-BBDD-9D7BD20CF7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85C162-9459-4582-AF2F-BE27EA286B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366C01-3FEB-4921-8D3F-EF90673AE8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E9FDD8-BC5C-43BA-B58C-95C25CD9A0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CCBE0C-0560-4D20-9D59-83A9405FB1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2D8D841-6BA2-44F6-B272-F14560A46F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2D7F429-7B26-4260-9620-99EAA159D4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059ABDB-4026-4836-A82E-0FAF48F855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28D20EA-AED4-41AA-BCE3-193BAA75B3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8566F9C-6B33-4332-BA7C-F98EBD2258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97B32AD-B4E3-4B1C-BF1E-C789A12875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9146709-D2E1-42CF-8986-BEB0136B1D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8C2DAC4-2146-44C2-8689-B026E6D841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1E03715-A4E7-4965-B66B-CFAC8ED0BB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7BDB275-E8D7-44C4-968D-D807B88E9B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D63B726-5E09-462D-BD79-8E9B817517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390DA25-4E67-49D6-8B1A-6F946552A5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hu-HU" sz="4500" spc="-1" strike="noStrike">
                <a:solidFill>
                  <a:srgbClr val="000000"/>
                </a:solidFill>
                <a:latin typeface="Aptos Display"/>
              </a:rPr>
              <a:t>Mintacím szerkesztése</a:t>
            </a:r>
            <a:endParaRPr b="0" lang="hu-HU" sz="45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hu-HU" sz="9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139E84-FF74-4067-B50B-647C59376239}" type="slidenum">
              <a:rPr b="0" lang="hu-HU" sz="9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15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hu-HU" sz="15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Mintacím szerkesztése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Mintaszöveg szerkesztése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Második szint</a:t>
            </a:r>
            <a:endParaRPr b="0" lang="hu-HU" sz="1800" spc="-1" strike="noStrike">
              <a:solidFill>
                <a:srgbClr val="000000"/>
              </a:solidFill>
              <a:latin typeface="Aptos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500" spc="-1" strike="noStrike">
                <a:solidFill>
                  <a:srgbClr val="000000"/>
                </a:solidFill>
                <a:latin typeface="Aptos"/>
              </a:rPr>
              <a:t>Harmadik szint</a:t>
            </a:r>
            <a:endParaRPr b="0" lang="hu-HU" sz="1500" spc="-1" strike="noStrike">
              <a:solidFill>
                <a:srgbClr val="000000"/>
              </a:solidFill>
              <a:latin typeface="Aptos"/>
            </a:endParaRPr>
          </a:p>
          <a:p>
            <a:pPr lvl="3" marL="12002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Negyedik szint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4" marL="15429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Ötödik szint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hu-HU" sz="9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FED27A-49C8-4243-A07C-29773FCE42A8}" type="slidenum">
              <a:rPr b="0" lang="hu-HU" sz="9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Mintacím szerkesztése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7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hu-HU" sz="9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8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053D52-85E5-4694-9DB7-BB38E083E8FD}" type="slidenum">
              <a:rPr b="0" lang="hu-HU" sz="9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15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hu-HU" sz="15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hu-HU" sz="4500" spc="-1" strike="noStrike">
                <a:solidFill>
                  <a:srgbClr val="000000"/>
                </a:solidFill>
                <a:latin typeface="Aptos Display"/>
              </a:rPr>
              <a:t>Gondolkodási módszerek</a:t>
            </a:r>
            <a:endParaRPr b="0" lang="hu-HU" sz="45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1143000" y="3602160"/>
            <a:ext cx="6857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Kombinatorikai problémák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539640" y="1556640"/>
            <a:ext cx="7772040" cy="373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Véges halmazok elemeinek összeszámlálására vonatkozó problémák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Felmerülő kérdések a problémamegoldás során: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Minden esetet összeszámláltunk?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Különböző eseteket számláltunk össze?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 feladatok nehézségi szintje nő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Az esetszám növelésével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 válogatási szempontok számának növelésével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Kombinatorikus szemléletmód kialakítása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Az esetek felsorolása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1-6. évfolyam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Esetek megkülönböztetése; néhány, majd az összes eset felsorolása ötletszerűen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Kis esetszám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Tárgyi tevékenység (gyöngyfűzés, építés, …)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Rajzos, színezős feladatok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Összes eset felsorolása szisztematikus kereséssel: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Táblázatba rendezés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Fagráfos elrendezés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B/6/4. OLD.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6" name="Téglalap 3"/>
          <p:cNvSpPr/>
          <p:nvPr/>
        </p:nvSpPr>
        <p:spPr>
          <a:xfrm>
            <a:off x="611640" y="1582200"/>
            <a:ext cx="4536000" cy="47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Dacos Dani hazafelé ballag az iskolából az első tanítási nap után. Azon morfondírozik,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hogy mivel töltse el a nap hátralevő részét. „Először is kellene egy kicsit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tanulni, de legfeljebb egy tárggyal fogok első nap foglalkozni: vagy átnézem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a nyelvtani szabályokat, vagy átfutok a történelmi eseményeken, vagy egy picit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matekozom. Utána bringázni vagy focizni fogok. Este esetleg olvasom a nyári kötelező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olvasmányt vagy tévét nézek.” Hányféleképpen töltheti Dani a nap hátralevő részét?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37" name="Kép 4" descr=""/>
          <p:cNvPicPr/>
          <p:nvPr/>
        </p:nvPicPr>
        <p:blipFill>
          <a:blip r:embed="rId1"/>
          <a:srcRect l="52765" t="46198" r="29121" b="23521"/>
          <a:stretch/>
        </p:blipFill>
        <p:spPr>
          <a:xfrm>
            <a:off x="5119560" y="1700640"/>
            <a:ext cx="3312000" cy="311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Formális módszerek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7-9. évfolyam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Szorzási módszer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925920" indent="-4572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Panni matricás füzetében különféle szemeket orrokat, szájakat lehet fejeknek ragasztani, így különböző arcokat lehet összerakni. Hányféle arcot rakhat össze Panni, ha 2-féle szem (nyitott - csukott), 3-féle száj (egyenes, mosolygós, szomorú) és a) egyféle, b) kétféle orr van?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925920" indent="-4572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Debrecenből Budapestre eljuthatunk autóval, busszal vagy vonattal. Budapestről Bécsbe autóval, repülővel, vonattal, busszal vagy hajóval. Hányféle módon juthatunk el Debrecenből Bécsbe, ha Budapesten bármelyik közlekedési eszközről bármelyikre átszállhatunk?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" dur="indefinite" restart="never" nodeType="tmRoot">
          <p:childTnLst>
            <p:seq>
              <p:cTn id="48" dur="indefinite" nodeType="mainSeq">
                <p:childTnLst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/>
          </p:nvPr>
        </p:nvSpPr>
        <p:spPr>
          <a:xfrm>
            <a:off x="628560" y="1825560"/>
            <a:ext cx="7886520" cy="3432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Összeadási módszer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Betűtáblákból szavak kiolvasása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Esetszétválasztás módszere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Hány háromjegyű páros számot alkothatunk a 0 1; 2; 4 számkártyák felhasználásával?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582840" indent="-51444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Kölcsönösen egyértelmű megfeleltetés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Peti akváriumában 3 hal van, Pinty Punty és Panty. Peti belemeríti a halfogó hálóját az akváriumba és kiemeli. Hányféle eredménye lehet a halászatnak?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Egy probléma – több modell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Egy modell –  több probléma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83640" y="1412640"/>
            <a:ext cx="7772040" cy="410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Mindegyik hallal két dolog történhet, vagy kifogják vagy nem. Jelöljük ezt + vagy – jellel. A kétféle jelből 3 tagú sorozatokat képezünk. (ismétléses variáció)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 3 elemű halmaz {Pinty; Punty, Panty} összes részhalmazainak számát határozzuk meg.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Esetszétválasztás az egy merítéssel kihalászott halak száma szerint (0; 1; 2; 3 hal)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542880" indent="-47484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54288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 pénzérmét feldobunk 3-szor egymásután. Hányféle kimenete lehet ennek a dobássorozatnak?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542880" indent="-47484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54288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 pár 3 gyereket tervez. Hányféleképpen alakulhat a fiúk és lányok eloszlása?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000"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Formális módszerek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7-9. évfolyam</a:t>
            </a:r>
            <a:br>
              <a:rPr sz="3300"/>
            </a:b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 startAt="4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Komplementer halmaz elemszámának meghatározása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Két dobókockával dobunk. Hányféleképpen lesz a dobott számok szorzata páros?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 startAt="5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Rekurzió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54288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 lehetőségek összeszámlálását a kisebb elemszámmal kezdjük, majd ezt felhasználva lépünk a következőre.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 8 fős társaságban mindenki koccint mindenkivel. Hány koccintás történt?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3" dur="indefinite" restart="never" nodeType="tmRoot">
          <p:childTnLst>
            <p:seq>
              <p:cTn id="104" dur="indefinite" nodeType="mainSeq">
                <p:childTnLst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B/9/36/3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46" name="Kép 3" descr=""/>
          <p:cNvPicPr/>
          <p:nvPr/>
        </p:nvPicPr>
        <p:blipFill>
          <a:blip r:embed="rId1"/>
          <a:srcRect l="39768" t="16399" r="23220" b="74196"/>
          <a:stretch/>
        </p:blipFill>
        <p:spPr>
          <a:xfrm>
            <a:off x="153360" y="1186200"/>
            <a:ext cx="8964000" cy="128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A/I/9/3.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48" name="Kép 4" descr=""/>
          <p:cNvPicPr/>
          <p:nvPr/>
        </p:nvPicPr>
        <p:blipFill>
          <a:blip r:embed="rId1"/>
          <a:stretch/>
        </p:blipFill>
        <p:spPr>
          <a:xfrm>
            <a:off x="0" y="1340640"/>
            <a:ext cx="9143640" cy="249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Struktúrák felismerése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10-12. évfolyam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Számít a sorrend?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Ismétlődhetnek az elemek?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Ismétlés nélküli/ismétléses permutáció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Ismétlés nélküli/ismétléses variáció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Ismétlés nélküli/ismétléses kombináció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Összetett, vegyes problémák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9" dur="indefinite" restart="never" nodeType="tmRoot">
          <p:childTnLst>
            <p:seq>
              <p:cTn id="120" dur="indefinite" nodeType="mainSeq">
                <p:childTnLst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A/11/55/6.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52" name="Kép 4" descr=""/>
          <p:cNvPicPr/>
          <p:nvPr/>
        </p:nvPicPr>
        <p:blipFill>
          <a:blip r:embed="rId1"/>
          <a:stretch/>
        </p:blipFill>
        <p:spPr>
          <a:xfrm>
            <a:off x="971640" y="1690560"/>
            <a:ext cx="6849720" cy="452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Kiszámítási képletek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3200" spc="-1" strike="noStrike">
                <a:solidFill>
                  <a:srgbClr val="000000"/>
                </a:solidFill>
                <a:latin typeface="Aptos"/>
              </a:rPr>
              <a:t>n! fogalma</a:t>
            </a:r>
            <a:endParaRPr b="0" lang="hu-HU" sz="3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3200" spc="-1" strike="noStrike">
                <a:solidFill>
                  <a:srgbClr val="000000"/>
                </a:solidFill>
                <a:latin typeface="Aptos"/>
              </a:rPr>
              <a:t>Binomiális együtthatók fogalma, tulajdonságai</a:t>
            </a:r>
            <a:endParaRPr b="0" lang="hu-HU" sz="3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3200" spc="-1" strike="noStrike">
                <a:solidFill>
                  <a:srgbClr val="000000"/>
                </a:solidFill>
                <a:latin typeface="Aptos"/>
              </a:rPr>
              <a:t>Pascal-háromszög</a:t>
            </a:r>
            <a:endParaRPr b="0" lang="hu-HU" sz="3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3200" spc="-1" strike="noStrike">
                <a:solidFill>
                  <a:srgbClr val="000000"/>
                </a:solidFill>
                <a:latin typeface="Aptos"/>
              </a:rPr>
              <a:t>Binomiális tétel és bizonyítása</a:t>
            </a:r>
            <a:endParaRPr b="0" lang="hu-HU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1" dur="indefinite" restart="never" nodeType="tmRoot">
          <p:childTnLst>
            <p:seq>
              <p:cTn id="142" dur="indefinite" nodeType="mainSeq">
                <p:childTnLst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A/11/65/3.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56" name="Kép 4" descr=""/>
          <p:cNvPicPr/>
          <p:nvPr/>
        </p:nvPicPr>
        <p:blipFill>
          <a:blip r:embed="rId1"/>
          <a:stretch/>
        </p:blipFill>
        <p:spPr>
          <a:xfrm>
            <a:off x="32040" y="1556640"/>
            <a:ext cx="9143640" cy="471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gráf mint matematikai modell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Konkrét szituációk szemléltetése gráfokkal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 gráf mint matematikai modell alkalmazása a problémamegoldásban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Gráfelméleti alapismeretek tanítása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Klasszikus gráfelméleti feladatok és matematikatörténeti vonatkozásaik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Kőnigsbergi hidak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kőnigsbergi hidak problémája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60" name="Picture 2" descr=""/>
          <p:cNvPicPr/>
          <p:nvPr/>
        </p:nvPicPr>
        <p:blipFill>
          <a:blip r:embed="rId1"/>
          <a:stretch/>
        </p:blipFill>
        <p:spPr>
          <a:xfrm>
            <a:off x="395640" y="2547360"/>
            <a:ext cx="2491560" cy="1685880"/>
          </a:xfrm>
          <a:prstGeom prst="rect">
            <a:avLst/>
          </a:prstGeom>
          <a:ln w="0">
            <a:noFill/>
          </a:ln>
        </p:spPr>
      </p:pic>
      <p:pic>
        <p:nvPicPr>
          <p:cNvPr id="161" name="Picture 3" descr=""/>
          <p:cNvPicPr/>
          <p:nvPr/>
        </p:nvPicPr>
        <p:blipFill>
          <a:blip r:embed="rId2"/>
          <a:stretch/>
        </p:blipFill>
        <p:spPr>
          <a:xfrm>
            <a:off x="6948360" y="2565000"/>
            <a:ext cx="1795680" cy="1668240"/>
          </a:xfrm>
          <a:prstGeom prst="rect">
            <a:avLst/>
          </a:prstGeom>
          <a:ln w="0">
            <a:noFill/>
          </a:ln>
        </p:spPr>
      </p:pic>
      <p:sp>
        <p:nvSpPr>
          <p:cNvPr id="162" name="Téglalap 3"/>
          <p:cNvSpPr/>
          <p:nvPr/>
        </p:nvSpPr>
        <p:spPr>
          <a:xfrm>
            <a:off x="539640" y="1556640"/>
            <a:ext cx="7992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Lehet-e olyan sétát tenni, hogy a hidak mindegyikén pontosan egyszer haladjunk át?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3" name="Szövegdoboz 4"/>
          <p:cNvSpPr/>
          <p:nvPr/>
        </p:nvSpPr>
        <p:spPr>
          <a:xfrm>
            <a:off x="3058560" y="2799000"/>
            <a:ext cx="38556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Topológiai szemlélet: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szárazföldek </a:t>
            </a:r>
            <a:r>
              <a:rPr b="0" lang="hu-HU" sz="2400" spc="-1" strike="noStrike">
                <a:solidFill>
                  <a:srgbClr val="000000"/>
                </a:solidFill>
                <a:latin typeface="Symbol"/>
              </a:rPr>
              <a:t></a:t>
            </a: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 a gráf csúcsai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hidak </a:t>
            </a:r>
            <a:r>
              <a:rPr b="0" lang="hu-HU" sz="2400" spc="-1" strike="noStrike">
                <a:solidFill>
                  <a:srgbClr val="000000"/>
                </a:solidFill>
                <a:latin typeface="Symbol"/>
              </a:rPr>
              <a:t></a:t>
            </a: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 a gráf élei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4" name="Téglalap 5"/>
          <p:cNvSpPr/>
          <p:nvPr/>
        </p:nvSpPr>
        <p:spPr>
          <a:xfrm>
            <a:off x="539640" y="4437000"/>
            <a:ext cx="79923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Gráf éleinek bejárása: Euler-gráf: olyan összefüggő gráf, amelyben minden csúcs fokszáma páros vagy pontosan két páratlan fokszámú csúcs létezik.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9" dur="indefinite" restart="never" nodeType="tmRoot">
          <p:childTnLst>
            <p:seq>
              <p:cTn id="180" dur="indefinite" nodeType="mainSeq">
                <p:childTnLst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83640" y="116640"/>
            <a:ext cx="7992360" cy="93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200" spc="-1" strike="noStrike">
                <a:solidFill>
                  <a:srgbClr val="000000"/>
                </a:solidFill>
                <a:latin typeface="Aptos Display"/>
              </a:rPr>
              <a:t>fogalmak, tételek 9-10. osztályban</a:t>
            </a:r>
            <a:endParaRPr b="0" lang="hu-HU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11640" y="1340640"/>
            <a:ext cx="8136720" cy="417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Gráf, csúcs, él, többszörös él, hurokél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egyszerű gráf: nincs se többszörös éle, se hurokéle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teljes gráf: minden csúcsából pontosan egy él vezet az összes többi csúcsba. Az n csúcsú teljes gráf éleinek száma: 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 csúcs fokszáma: a csúcsból induló élek száma. A fokszámok összege az élek számának kétszerese.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A/11/71/5.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68" name="Kép 4" descr=""/>
          <p:cNvPicPr/>
          <p:nvPr/>
        </p:nvPicPr>
        <p:blipFill>
          <a:blip r:embed="rId1"/>
          <a:stretch/>
        </p:blipFill>
        <p:spPr>
          <a:xfrm>
            <a:off x="3564000" y="47160"/>
            <a:ext cx="5362920" cy="676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A/11/79/41.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70" name="Kép 4" descr=""/>
          <p:cNvPicPr/>
          <p:nvPr/>
        </p:nvPicPr>
        <p:blipFill>
          <a:blip r:embed="rId1"/>
          <a:stretch/>
        </p:blipFill>
        <p:spPr>
          <a:xfrm>
            <a:off x="2699640" y="656640"/>
            <a:ext cx="6165000" cy="554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85800" y="274680"/>
            <a:ext cx="7772040" cy="84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Példák Gráfok alkalmazására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99640" y="980640"/>
            <a:ext cx="5472360" cy="463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Matematikai témakörökben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Számelmélet; prímfaktorizáció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Kombinatorika; összes eset felsorolása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Relációk ábrázolása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Sík és térgeometria; pontok, egyenesek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Más területeken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Közlekedési útvonalak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Sportmérkőzések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Elektromos áramkörök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Családfák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Molekulák szerkezete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73" name="Picture 2" descr=""/>
          <p:cNvPicPr/>
          <p:nvPr/>
        </p:nvPicPr>
        <p:blipFill>
          <a:blip r:embed="rId1"/>
          <a:srcRect l="25464" t="0" r="42161" b="0"/>
          <a:stretch/>
        </p:blipFill>
        <p:spPr>
          <a:xfrm>
            <a:off x="5724000" y="3717000"/>
            <a:ext cx="3024000" cy="219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1" dur="indefinite" restart="never" nodeType="tmRoot">
          <p:childTnLst>
            <p:seq>
              <p:cTn id="212" dur="indefinite" nodeType="mainSeq">
                <p:childTnLst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fogalmak, tételek emelt szinten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Út, kör, összefüggő gráf, fagráf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Út: az egyszerű gráf egymáshoz csatlakozó éleinek olyan sorozata, amelyben nincs ismétlődő csúcs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Kör: olyan út kezdő és végpontja megegyezik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Összefüggő gráf: bármely bármely két csúcsa között vezet út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Fagráf: egyszerű gráf, melynek bármely két csúcsa között pontosan egy út létezik.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Komplementer gráf: Egyszerű gráf komplementer gráfjában két csúcs között pontosan akkor van él, ha az eredetiben nincs.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Izomorf gráfok: Két csúcs között pontosan akkor van él, ha a másik gráfban is.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11640" y="62064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Példa komplementer gráfra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Egy iskolai focibajnokságon 6 csapat vesz részt, a lejátszott mérkőzéseket szemlélteti az ábra.  Hány mérkőzés van még hátra, ha minden csapat minden csapattal egy mérkőzést játszik?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78" name="Picture 2" descr=""/>
          <p:cNvPicPr/>
          <p:nvPr/>
        </p:nvPicPr>
        <p:blipFill>
          <a:blip r:embed="rId1"/>
          <a:stretch/>
        </p:blipFill>
        <p:spPr>
          <a:xfrm>
            <a:off x="2988000" y="3493080"/>
            <a:ext cx="3287520" cy="183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30640" y="980640"/>
            <a:ext cx="7780320" cy="2016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2200" spc="-1" strike="noStrike">
                <a:solidFill>
                  <a:srgbClr val="000000"/>
                </a:solidFill>
                <a:latin typeface="Aptos Display"/>
              </a:rPr>
              <a:t>Egy munkahelyen 10 ember dolgozik. J meghallott egy pletykát A-ról.  A pletykát mindenki továbbadja annak, akivel barátkozik.  Az ábra mutatja, hogy ki kivel van baráti kapcsolatban.</a:t>
            </a:r>
            <a:br>
              <a:rPr sz="2200"/>
            </a:br>
            <a:r>
              <a:rPr b="0" lang="hu-HU" sz="2200" spc="-1" strike="noStrike">
                <a:solidFill>
                  <a:srgbClr val="000000"/>
                </a:solidFill>
                <a:latin typeface="Aptos Display"/>
              </a:rPr>
              <a:t>Hány különböző úton juthat el a pletyka  A-hoz?</a:t>
            </a:r>
            <a:br>
              <a:rPr sz="2200"/>
            </a:br>
            <a:r>
              <a:rPr b="0" lang="hu-HU" sz="2200" spc="-1" strike="noStrike">
                <a:solidFill>
                  <a:srgbClr val="000000"/>
                </a:solidFill>
                <a:latin typeface="Aptos Display"/>
              </a:rPr>
              <a:t>Valaki nem adta tovább a hírt, így a pletyka nem jutott el A-hoz. Ki lehetett a hallgatag munkatárs?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80" name="Picture 2" descr=""/>
          <p:cNvPicPr/>
          <p:nvPr/>
        </p:nvPicPr>
        <p:blipFill>
          <a:blip r:embed="rId1"/>
          <a:stretch/>
        </p:blipFill>
        <p:spPr>
          <a:xfrm>
            <a:off x="539640" y="3080880"/>
            <a:ext cx="3232080" cy="2952000"/>
          </a:xfrm>
          <a:prstGeom prst="rect">
            <a:avLst/>
          </a:prstGeom>
          <a:ln w="0">
            <a:noFill/>
          </a:ln>
        </p:spPr>
      </p:pic>
      <p:sp>
        <p:nvSpPr>
          <p:cNvPr id="181" name="Szövegdoboz 3"/>
          <p:cNvSpPr/>
          <p:nvPr/>
        </p:nvSpPr>
        <p:spPr>
          <a:xfrm>
            <a:off x="395640" y="260640"/>
            <a:ext cx="7560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hu-HU" sz="3600" spc="-1" strike="noStrike">
                <a:solidFill>
                  <a:srgbClr val="000000"/>
                </a:solidFill>
                <a:latin typeface="Aptos"/>
              </a:rPr>
              <a:t>Izomorf gráfok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182" name="Picture 3" descr=""/>
          <p:cNvPicPr/>
          <p:nvPr/>
        </p:nvPicPr>
        <p:blipFill>
          <a:blip r:embed="rId2"/>
          <a:stretch/>
        </p:blipFill>
        <p:spPr>
          <a:xfrm>
            <a:off x="4572000" y="3636720"/>
            <a:ext cx="3747960" cy="136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83640" y="33264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2200" spc="-1" strike="noStrike">
                <a:solidFill>
                  <a:srgbClr val="000000"/>
                </a:solidFill>
                <a:latin typeface="Aptos Display"/>
              </a:rPr>
              <a:t>Az ábra  a londoni metróhálózat egy részletét mutatja. Keressünk a gráfban kört! Adjunk meg 3 különböző utat a King’s Cross és a Westminster között!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84" name="Picture 3" descr=""/>
          <p:cNvPicPr/>
          <p:nvPr/>
        </p:nvPicPr>
        <p:blipFill>
          <a:blip r:embed="rId1"/>
          <a:stretch/>
        </p:blipFill>
        <p:spPr>
          <a:xfrm>
            <a:off x="2404800" y="2718000"/>
            <a:ext cx="4334400" cy="256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Halmazszemlélet alakítása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Nem önálló témakör, integráltan tanítjuk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Egyenletek, egyenlőtlenségek megoldása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Oszthatósági feladatok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Ponthalmazok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Sokszögek rendszerezése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Kombinatorika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Függvények értelmezési tartománya, annak szűkítése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Halmazelméleti fogalmak, összefüggések rendszerezése 9. osztály elején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1" dur="indefinite" restart="never" nodeType="tmRoot">
          <p:childTnLst>
            <p:seq>
              <p:cTn id="242" dur="indefinite" nodeType="mainSeq">
                <p:childTnLst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Alapvető fogalmak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683640" y="1340640"/>
            <a:ext cx="7772040" cy="432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1" marL="343080" indent="-171360">
              <a:lnSpc>
                <a:spcPct val="11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Halmaz, eleme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343080" indent="-171360">
              <a:lnSpc>
                <a:spcPct val="11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Halmaz megadásának módjai, halmazok ábrázolása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343080" indent="-171360">
              <a:lnSpc>
                <a:spcPct val="11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Részhalmaz, valódi részhalmaz, halmazok egyenlősége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343080" indent="-171360">
              <a:lnSpc>
                <a:spcPct val="11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Részhalmazok száma, Pascal-háromszög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343080" indent="-171360">
              <a:lnSpc>
                <a:spcPct val="11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Halmazműveletek: komplementer, metszet, unió, különbség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343080" indent="-171360">
              <a:lnSpc>
                <a:spcPct val="11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Halmazok Descartes-szorzata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343080" indent="-171360">
              <a:lnSpc>
                <a:spcPct val="11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Halmaz számossága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11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Véges halmaz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743040" indent="-171360">
              <a:lnSpc>
                <a:spcPct val="11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Végtelen halmaz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5" dur="indefinite" restart="never" nodeType="tmRoot">
          <p:childTnLst>
            <p:seq>
              <p:cTn id="276" dur="indefinite" nodeType="mainSeq">
                <p:childTnLst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A/I/25/3.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90" name="Kép 4" descr=""/>
          <p:cNvPicPr/>
          <p:nvPr/>
        </p:nvPicPr>
        <p:blipFill>
          <a:blip r:embed="rId1"/>
          <a:stretch/>
        </p:blipFill>
        <p:spPr>
          <a:xfrm>
            <a:off x="2483640" y="1340640"/>
            <a:ext cx="5916960" cy="460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A/I/29/5.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92" name="Kép 4" descr=""/>
          <p:cNvPicPr/>
          <p:nvPr/>
        </p:nvPicPr>
        <p:blipFill>
          <a:blip r:embed="rId1"/>
          <a:stretch/>
        </p:blipFill>
        <p:spPr>
          <a:xfrm>
            <a:off x="3276000" y="1027800"/>
            <a:ext cx="5038920" cy="50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A/I/41/4.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94" name="Kép 4" descr=""/>
          <p:cNvPicPr/>
          <p:nvPr/>
        </p:nvPicPr>
        <p:blipFill>
          <a:blip r:embed="rId1"/>
          <a:stretch/>
        </p:blipFill>
        <p:spPr>
          <a:xfrm>
            <a:off x="628560" y="1688400"/>
            <a:ext cx="8193960" cy="138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Intervallumokon végzett halmazműveletek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83640" y="1669680"/>
            <a:ext cx="7772040" cy="2476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Határozzuk meg az  függvény értelmezési tartományát!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97" name="Picture 3" descr=""/>
          <p:cNvPicPr/>
          <p:nvPr/>
        </p:nvPicPr>
        <p:blipFill>
          <a:blip r:embed="rId1"/>
          <a:srcRect l="19077" t="27103" r="40305" b="37946"/>
          <a:stretch/>
        </p:blipFill>
        <p:spPr>
          <a:xfrm>
            <a:off x="3780000" y="4146480"/>
            <a:ext cx="4510080" cy="165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9" dur="indefinite" restart="never" nodeType="tmRoot">
          <p:childTnLst>
            <p:seq>
              <p:cTn id="310" dur="indefinite" nodeType="mainSeq">
                <p:childTnLst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07640" y="188640"/>
            <a:ext cx="8784720" cy="998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hu-HU" sz="2800" spc="-1" strike="noStrike">
                <a:solidFill>
                  <a:srgbClr val="000000"/>
                </a:solidFill>
                <a:latin typeface="Aptos Display"/>
              </a:rPr>
              <a:t>Szitaformula</a:t>
            </a:r>
            <a:br>
              <a:rPr sz="2200"/>
            </a:br>
            <a:endParaRPr b="0" lang="hu-H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683640" y="1628640"/>
            <a:ext cx="7772040" cy="373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68760" algn="just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Egy 30 fős osztályban felmérést végeztek a diákok olvasási szokásaival kapcsolatban. Ebből kiderült, hogy 14-en olvasták A Pál utcai fiúk című Molnár Ferenc-regényt, 18-an az Egri csillagokat, Gárdonyi Géza művét, 17-en pedig a Jókai Mór által írt A kőszívű ember fiait. A Molnár- és a Gárdonyi-regényt 8-an, a Molnár- és a Jókai-művet 9-en, míg a Jókai- és a Gárdonyi-regényt 11-en olvasták. Mindhárom regényt mindössze 5 tanuló olvasta. Hányan nem ismerkedtek meg egyik művel sem?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5" dur="indefinite" restart="never" nodeType="tmRoot">
          <p:childTnLst>
            <p:seq>
              <p:cTn id="326" dur="indefinite" nodeType="mainSeq">
                <p:childTnLst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Halmazok Emelt szinten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Halmazműveletek, műveleti tulajdonságok, De Morgan azonosságok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Végtelen halmaz fogalma, megszámlálhatóan végtelen halmazok.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Halmaz zártsága egy műveletre nézve.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11640" y="26064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Logikai alapismeretek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Nem önálló témakör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Néhány óra erejéig 9-10. osztályban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Ítélet (állítás) fogalma, logikai érték (igaz, hamis)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Ítéletek összekapcsolása logikai műveletekkel – logikai kötőszavak jelentéstartalma: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46872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NEM; ÉS; VAGY; HA … AKKOR; AKKOR ÉS CSAK  AKKOR, HA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Kvantorok értelmezése nyitott mondatokra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44928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MINDEN, LÉTEZIK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1" dur="indefinite" restart="never" nodeType="tmRoot">
          <p:childTnLst>
            <p:seq>
              <p:cTn id="332" dur="indefinite" nodeType="mainSeq">
                <p:childTnLst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10/I/12/4.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205" name="Kép 4" descr=""/>
          <p:cNvPicPr/>
          <p:nvPr/>
        </p:nvPicPr>
        <p:blipFill>
          <a:blip r:embed="rId1"/>
          <a:stretch/>
        </p:blipFill>
        <p:spPr>
          <a:xfrm>
            <a:off x="0" y="1366920"/>
            <a:ext cx="9143640" cy="412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10/I/16/4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207" name="Kép 4" descr=""/>
          <p:cNvPicPr/>
          <p:nvPr/>
        </p:nvPicPr>
        <p:blipFill>
          <a:blip r:embed="rId1"/>
          <a:stretch/>
        </p:blipFill>
        <p:spPr>
          <a:xfrm>
            <a:off x="0" y="1986120"/>
            <a:ext cx="9143640" cy="288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10/I/26/2.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209" name="Kép 3" descr=""/>
          <p:cNvPicPr/>
          <p:nvPr/>
        </p:nvPicPr>
        <p:blipFill>
          <a:blip r:embed="rId1"/>
          <a:stretch/>
        </p:blipFill>
        <p:spPr>
          <a:xfrm>
            <a:off x="0" y="1704600"/>
            <a:ext cx="9143640" cy="344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00"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Néhány logikai törvény használata a hétköznapi nyelvben és a szaknyelvben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755640" y="1628640"/>
            <a:ext cx="7772040" cy="373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Kvantorok tagadása: 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	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Harmadik kizárása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Ellentmondás mentesség:  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Tagadás tagadása: 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Kontrapozíció elve: 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De Morgan azonosságok: 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Implikáció kifejezése diszjunkcióval: 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9" dur="indefinite" restart="never" nodeType="tmRoot">
          <p:childTnLst>
            <p:seq>
              <p:cTn id="360" dur="indefinite" nodeType="mainSeq">
                <p:childTnLst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Példák a kvantorok tagadására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683640" y="1340640"/>
            <a:ext cx="7772040" cy="4248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Az alábbi négy állítás közül háromnak a tagadása is megtalálható az állítások közt. Melyik ez a három, és melyiknek mi a tagadása?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46872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(1)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Minden diák tudja a Nemzeti dalt.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46872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(2)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Egyetlen diák sem tudja a Nemzeti dalt.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46872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(3)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Nem minden diák tudja a Nemzeti dalt.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46872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(4)  Van olyan diák, aki nem tudja a Nemzeti dalt.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Nincsen rózsa tövis nélkül. = Minden rózsának van tövise.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Nem mind arany, ami fénylik. = Van, ami fénylik, de nem arany.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3" dur="indefinite" restart="never" nodeType="tmRoot">
          <p:childTnLst>
            <p:seq>
              <p:cTn id="394" dur="indefinite" nodeType="mainSeq">
                <p:childTnLst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Tételek, bizonyítások logikai szerkezete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Ha …., akkor ….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Megfordítható tételek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Nevezetes logikai következtetési sémák: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Leválasztási szabály: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Indirekt bizonyítás: 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Láncszabály: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Diszjunktív szillogizmus: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5" dur="indefinite" restart="never" nodeType="tmRoot">
          <p:childTnLst>
            <p:seq>
              <p:cTn id="416" dur="indefinite" nodeType="mainSeq">
                <p:childTnLst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bce387-4d7b-40e1-a6b4-c15e1bac21b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DCDD296FF75D6A4EA784C3EC7A5E13E0" ma:contentTypeVersion="18" ma:contentTypeDescription="Új dokumentum létrehozása." ma:contentTypeScope="" ma:versionID="21d50ba7d0af76b3e759d9fd815bb32a">
  <xsd:schema xmlns:xsd="http://www.w3.org/2001/XMLSchema" xmlns:xs="http://www.w3.org/2001/XMLSchema" xmlns:p="http://schemas.microsoft.com/office/2006/metadata/properties" xmlns:ns3="ccbce387-4d7b-40e1-a6b4-c15e1bac21b6" xmlns:ns4="3d296b12-95c1-4341-9225-712f0b2d7fe6" targetNamespace="http://schemas.microsoft.com/office/2006/metadata/properties" ma:root="true" ma:fieldsID="3778aa435683c62402585a12c9f69242" ns3:_="" ns4:_="">
    <xsd:import namespace="ccbce387-4d7b-40e1-a6b4-c15e1bac21b6"/>
    <xsd:import namespace="3d296b12-95c1-4341-9225-712f0b2d7f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bce387-4d7b-40e1-a6b4-c15e1bac21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296b12-95c1-4341-9225-712f0b2d7fe6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Megosztási tipp kivonat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E518EE-2E01-4F77-8F0D-9E7D03643A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24A604-6BA0-40AF-B3B3-14171252E216}">
  <ds:schemaRefs>
    <ds:schemaRef ds:uri="http://purl.org/dc/dcmitype/"/>
    <ds:schemaRef ds:uri="ccbce387-4d7b-40e1-a6b4-c15e1bac21b6"/>
    <ds:schemaRef ds:uri="http://schemas.microsoft.com/office/2006/documentManagement/types"/>
    <ds:schemaRef ds:uri="3d296b12-95c1-4341-9225-712f0b2d7fe6"/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AFF8E5F-8125-4BC6-BA41-858E769CDE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bce387-4d7b-40e1-a6b4-c15e1bac21b6"/>
    <ds:schemaRef ds:uri="3d296b12-95c1-4341-9225-712f0b2d7f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</TotalTime>
  <Application>LibreOffice/7.3.7.2$Linux_X86_64 LibreOffice_project/30$Build-2</Application>
  <AppVersion>15.0000</AppVersion>
  <Words>1560</Words>
  <Paragraphs>179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2015-04-23T13:17:22Z</dcterms:created>
  <dc:creator>Eszter</dc:creator>
  <dc:description/>
  <dc:language>en-US</dc:language>
  <cp:lastModifiedBy/>
  <dcterms:modified xsi:type="dcterms:W3CDTF">2026-01-14T19:05:36Z</dcterms:modified>
  <cp:revision>45</cp:revision>
  <dc:subject/>
  <dc:title>Gráfelméleti alapfogalmak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0x010100DCDD296FF75D6A4EA784C3EC7A5E13E0</vt:lpwstr>
  </property>
  <property fmtid="{D5CDD505-2E9C-101B-9397-08002B2CF9AE}" pid="3" name="Notes">
    <vt:i4>2</vt:i4>
  </property>
  <property fmtid="{D5CDD505-2E9C-101B-9397-08002B2CF9AE}" pid="4" name="PresentationFormat">
    <vt:lpwstr>Diavetítés a képernyőre (4:3 oldalarány)</vt:lpwstr>
  </property>
  <property fmtid="{D5CDD505-2E9C-101B-9397-08002B2CF9AE}" pid="5" name="Slides">
    <vt:i4>39</vt:i4>
  </property>
</Properties>
</file>