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0.xml.rels" ContentType="application/vnd.openxmlformats-package.relationships+xml"/>
  <Override PartName="/ppt/notesSlides/notesSlide10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hu-HU" sz="1800" spc="-1" strike="noStrike">
                <a:solidFill>
                  <a:srgbClr val="000000"/>
                </a:solidFill>
                <a:latin typeface="Aptos"/>
              </a:rPr>
              <a:t>Click to move the slide</a:t>
            </a:r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BC76392-72C5-4A1A-9C97-980A1F108695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440" cy="30859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hu-HU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704589-42A9-4D9C-B94D-CB7D24AA7405}" type="slidenum">
              <a:rPr b="0" lang="hu-HU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45F1D7-7EF9-4CD7-8BEF-D83DCE9C8A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3B3C4B-8002-49DC-A71A-80C657AA0A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D92D0C-5190-4B17-9AEF-DE4E53825C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6F397B-D95E-4385-8CD8-B3E0BFB53F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ACFC00-0F4E-4E6D-AC91-42BCE1DE5F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28560" y="365040"/>
            <a:ext cx="788652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F5A829-5E8E-4449-ACB1-88FBCFD6C5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70A509-6285-4C82-B5FE-DBA2B8B16D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6992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73DFC8-4637-4E81-800B-822B51CE36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F1DDBD-7B2B-441B-80F9-D4CDB32AF2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8560" y="409824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D6488B-E979-4CBB-9CDC-B7E077C2FDF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6992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AB7C18-B21B-4302-A7D0-B8659142FD6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9508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596124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2856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9508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596124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84DED8-F874-4A8B-ABE3-59D35512D08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B95B5F-CDD1-4EA7-A2E8-208CAB54A8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A724BE-5081-49AC-99C9-C33AF68096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182FE7-540B-4E12-9D01-4558B66452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7D5235-39F9-413E-97F2-27E6BC39CD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B852F2-C2DD-441C-9894-CBD3A77A02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28560" y="365040"/>
            <a:ext cx="788652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A4F778-1B87-47B6-8DC9-589CFE700D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5CFE84-4932-4D4E-97E8-E464ABFA0A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6992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BCFBB2-2D9E-4EB2-9791-235CFAD0E1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864328-3722-4CC0-A762-A9F65F6806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8560" y="4098240"/>
            <a:ext cx="788652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3E441C-AA9B-43CC-AAD3-71B990BDAF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69920" y="182556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2856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69920" y="4098240"/>
            <a:ext cx="38484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A22585-BE67-4749-AE9A-2C1A9AA84E2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hu-HU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9508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5961240" y="182556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2856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9508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5961240" y="4098240"/>
            <a:ext cx="2539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C9BD8A-0F30-41F2-8330-97CD82DB650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1122480"/>
            <a:ext cx="6857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hu-HU" sz="4500" spc="-1" strike="noStrike">
                <a:solidFill>
                  <a:srgbClr val="000000"/>
                </a:solidFill>
                <a:latin typeface="Aptos Display"/>
              </a:rPr>
              <a:t>Mintacím szerkesztése</a:t>
            </a:r>
            <a:endParaRPr b="0" lang="hu-HU" sz="45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hu-HU" sz="9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hu-HU" sz="900" spc="-1" strike="noStrike">
                <a:solidFill>
                  <a:srgbClr val="787878"/>
                </a:solidFill>
                <a:latin typeface="Aptos"/>
              </a:rPr>
              <a:t>&lt;date/time&gt;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hu-HU" sz="9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9259A59-5441-428C-8589-15D0FA1E17EC}" type="slidenum">
              <a:rPr b="0" lang="hu-HU" sz="9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Click to edit the outline text format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u-HU" sz="1500" spc="-1" strike="noStrike">
                <a:solidFill>
                  <a:srgbClr val="000000"/>
                </a:solidFill>
                <a:latin typeface="Aptos"/>
              </a:rPr>
              <a:t>Second Outline Level</a:t>
            </a:r>
            <a:endParaRPr b="0" lang="hu-HU" sz="15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1350" spc="-1" strike="noStrike">
                <a:solidFill>
                  <a:srgbClr val="000000"/>
                </a:solidFill>
                <a:latin typeface="Aptos"/>
              </a:rPr>
              <a:t>Third Outline Level</a:t>
            </a:r>
            <a:endParaRPr b="0" lang="hu-HU" sz="135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hu-HU" sz="1350" spc="-1" strike="noStrike">
                <a:solidFill>
                  <a:srgbClr val="000000"/>
                </a:solidFill>
                <a:latin typeface="Aptos"/>
              </a:rPr>
              <a:t>Fourth Outline Level</a:t>
            </a:r>
            <a:endParaRPr b="0" lang="hu-HU" sz="135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000" spc="-1" strike="noStrike">
                <a:solidFill>
                  <a:srgbClr val="000000"/>
                </a:solidFill>
                <a:latin typeface="Aptos"/>
              </a:rPr>
              <a:t>Fifth Outline Level</a:t>
            </a:r>
            <a:endParaRPr b="0" lang="hu-HU" sz="2000" spc="-1" strike="noStrike">
              <a:solidFill>
                <a:srgbClr val="000000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000" spc="-1" strike="noStrike">
                <a:solidFill>
                  <a:srgbClr val="000000"/>
                </a:solidFill>
                <a:latin typeface="Aptos"/>
              </a:rPr>
              <a:t>Sixth Outline Level</a:t>
            </a:r>
            <a:endParaRPr b="0" lang="hu-HU" sz="2000" spc="-1" strike="noStrike">
              <a:solidFill>
                <a:srgbClr val="000000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hu-HU" sz="2000" spc="-1" strike="noStrike">
                <a:solidFill>
                  <a:srgbClr val="000000"/>
                </a:solidFill>
                <a:latin typeface="Aptos"/>
              </a:rPr>
              <a:t>Seventh Outline Level</a:t>
            </a:r>
            <a:endParaRPr b="0" lang="hu-HU" sz="2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Mintacím szerkesztése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Mintaszöveg szerkesztése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1800" spc="-1" strike="noStrike">
                <a:solidFill>
                  <a:srgbClr val="000000"/>
                </a:solidFill>
                <a:latin typeface="Aptos"/>
              </a:rPr>
              <a:t>Második szint</a:t>
            </a:r>
            <a:endParaRPr b="0" lang="hu-HU" sz="1800" spc="-1" strike="noStrike">
              <a:solidFill>
                <a:srgbClr val="000000"/>
              </a:solidFill>
              <a:latin typeface="Aptos"/>
            </a:endParaRPr>
          </a:p>
          <a:p>
            <a:pPr lvl="2" marL="85716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1500" spc="-1" strike="noStrike">
                <a:solidFill>
                  <a:srgbClr val="000000"/>
                </a:solidFill>
                <a:latin typeface="Aptos"/>
              </a:rPr>
              <a:t>Harmadik szint</a:t>
            </a:r>
            <a:endParaRPr b="0" lang="hu-HU" sz="1500" spc="-1" strike="noStrike">
              <a:solidFill>
                <a:srgbClr val="000000"/>
              </a:solidFill>
              <a:latin typeface="Aptos"/>
            </a:endParaRPr>
          </a:p>
          <a:p>
            <a:pPr lvl="3" marL="12002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1350" spc="-1" strike="noStrike">
                <a:solidFill>
                  <a:srgbClr val="000000"/>
                </a:solidFill>
                <a:latin typeface="Aptos"/>
              </a:rPr>
              <a:t>Negyedik szint</a:t>
            </a:r>
            <a:endParaRPr b="0" lang="hu-HU" sz="1350" spc="-1" strike="noStrike">
              <a:solidFill>
                <a:srgbClr val="000000"/>
              </a:solidFill>
              <a:latin typeface="Aptos"/>
            </a:endParaRPr>
          </a:p>
          <a:p>
            <a:pPr lvl="4" marL="154296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1350" spc="-1" strike="noStrike">
                <a:solidFill>
                  <a:srgbClr val="000000"/>
                </a:solidFill>
                <a:latin typeface="Aptos"/>
              </a:rPr>
              <a:t>Ötödik szint</a:t>
            </a:r>
            <a:endParaRPr b="0" lang="hu-HU" sz="13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hu-HU" sz="9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hu-HU" sz="900" spc="-1" strike="noStrike">
                <a:solidFill>
                  <a:srgbClr val="787878"/>
                </a:solidFill>
                <a:latin typeface="Aptos"/>
              </a:rPr>
              <a:t>&lt;date/time&gt;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hu-HU" sz="9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67FC376-708C-4357-A3B2-E77BB0C5F0CB}" type="slidenum">
              <a:rPr b="0" lang="hu-HU" sz="9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143000" y="1122480"/>
            <a:ext cx="6857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algn="ctr">
              <a:lnSpc>
                <a:spcPct val="90000"/>
              </a:lnSpc>
              <a:buNone/>
            </a:pPr>
            <a:r>
              <a:rPr b="0" lang="hu-HU" sz="4500" spc="-1" strike="noStrike">
                <a:solidFill>
                  <a:srgbClr val="000000"/>
                </a:solidFill>
                <a:latin typeface="Aptos Display"/>
              </a:rPr>
              <a:t>Valószínűség, statisztika tanítása</a:t>
            </a:r>
            <a:endParaRPr b="0" lang="hu-HU" sz="45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1143000" y="3602160"/>
            <a:ext cx="6857640" cy="1655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 Valószínűségi szemlélet alapozása</a:t>
            </a:r>
            <a:br>
              <a:rPr sz="3300"/>
            </a:b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1-6. osztály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A </a:t>
            </a:r>
            <a:r>
              <a:rPr b="0" i="1" lang="hu-HU" sz="2200" spc="-1" strike="noStrike">
                <a:solidFill>
                  <a:srgbClr val="000000"/>
                </a:solidFill>
                <a:latin typeface="Aptos"/>
              </a:rPr>
              <a:t>biztos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, a </a:t>
            </a:r>
            <a:r>
              <a:rPr b="0" i="1" lang="hu-HU" sz="2200" spc="-1" strike="noStrike">
                <a:solidFill>
                  <a:srgbClr val="000000"/>
                </a:solidFill>
                <a:latin typeface="Aptos"/>
              </a:rPr>
              <a:t>lehetetlen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 és a </a:t>
            </a:r>
            <a:r>
              <a:rPr b="0" i="1" lang="hu-HU" sz="2200" spc="-1" strike="noStrike">
                <a:solidFill>
                  <a:srgbClr val="000000"/>
                </a:solidFill>
                <a:latin typeface="Aptos"/>
              </a:rPr>
              <a:t>lehet, de nem biztos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 események megkülönböztetése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Valószínűségi játékok, kísérletek – események gyakoriságának, relatív gyakoriságának mérése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dobókockák, pénzérmék, korongok, pörgettyűk, színes golyók, számkártyák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Események valószínűségének (esélyeknek) az összehasonlítása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Szubjektív: tippelés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Objektív: kísérlet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Elméleti (kombinatorikai) megfontolások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251640" y="274680"/>
            <a:ext cx="878472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/>
          </a:bodyPr>
          <a:p>
            <a:pPr>
              <a:lnSpc>
                <a:spcPct val="90000"/>
              </a:lnSpc>
              <a:buNone/>
            </a:pPr>
            <a:r>
              <a:rPr b="0" lang="hu-HU" sz="3100" spc="-1" strike="noStrike">
                <a:solidFill>
                  <a:srgbClr val="000000"/>
                </a:solidFill>
                <a:latin typeface="Aptos Display"/>
              </a:rPr>
              <a:t>Esélyek összehasonlítása – Melyik valószínűbb? </a:t>
            </a:r>
            <a:br>
              <a:rPr sz="3300"/>
            </a:br>
            <a:r>
              <a:rPr b="0" lang="hu-HU" sz="3100" spc="-1" strike="noStrike">
                <a:solidFill>
                  <a:srgbClr val="000000"/>
                </a:solidFill>
                <a:latin typeface="Aptos Display"/>
              </a:rPr>
              <a:t>4-6. osztály</a:t>
            </a:r>
            <a:endParaRPr b="0" lang="hu-HU" sz="31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85800" y="1600200"/>
            <a:ext cx="7772040" cy="1756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Három piros-kék koronggal dobunk.  Milyen események következhetnek be? Végezzünk 100 dobásból álló kísérletsorozatot! Először tippeljük meg, hogy az egyes események 100-ból hányszor fordulnak elő! A kísérlet elvégzése után keressünk magyarázatot a kapott eredményekre!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94" name="Picture 2" descr=""/>
          <p:cNvPicPr/>
          <p:nvPr/>
        </p:nvPicPr>
        <p:blipFill>
          <a:blip r:embed="rId1"/>
          <a:srcRect l="12048" t="53190" r="28988" b="18298"/>
          <a:stretch/>
        </p:blipFill>
        <p:spPr>
          <a:xfrm>
            <a:off x="1043640" y="3429000"/>
            <a:ext cx="7188480" cy="1954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11640" y="116640"/>
            <a:ext cx="7772040" cy="889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000"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 relatív gyakoriság változása a kísérletek számának növelésével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96" name="Picture 2" descr=""/>
          <p:cNvPicPr/>
          <p:nvPr/>
        </p:nvPicPr>
        <p:blipFill>
          <a:blip r:embed="rId1"/>
          <a:srcRect l="40454" t="12056" r="26196" b="16736"/>
          <a:stretch/>
        </p:blipFill>
        <p:spPr>
          <a:xfrm>
            <a:off x="2627640" y="1268640"/>
            <a:ext cx="4065840" cy="4883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 valószínűség fogalmának megközelítési lehetőségei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525960" indent="-4572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b="0" lang="hu-HU" sz="2800" spc="-1" strike="noStrike">
                <a:solidFill>
                  <a:srgbClr val="000000"/>
                </a:solidFill>
                <a:latin typeface="Aptos"/>
              </a:rPr>
              <a:t>Statisztikus megközelítés (7-11. osztály): esemény gyakorisága, relatív gyakorisága</a:t>
            </a:r>
            <a:endParaRPr b="0" lang="hu-HU" sz="28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800" spc="-1" strike="noStrike">
                <a:solidFill>
                  <a:srgbClr val="000000"/>
                </a:solidFill>
                <a:latin typeface="Aptos"/>
              </a:rPr>
              <a:t>Az esemény valószínűsége az az érték, ami körül az adott esemény relatív gyakorisága ingadozik.</a:t>
            </a:r>
            <a:endParaRPr b="0" lang="hu-HU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2. Kombinatorikus megközelítés</a:t>
            </a:r>
            <a:br>
              <a:rPr sz="3300"/>
            </a:b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9-11. osztály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323640" y="1556640"/>
            <a:ext cx="8496720" cy="3733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000"/>
          </a:bodyPr>
          <a:p>
            <a:pPr marL="687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A klasszikus valószínűségi mező fogalma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A kísérlet kimenetét a körülmények nem befolyásolják. </a:t>
            </a:r>
            <a:r>
              <a:rPr b="0" lang="hu-HU" sz="2400" spc="-1" strike="noStrike">
                <a:solidFill>
                  <a:srgbClr val="000000"/>
                </a:solidFill>
                <a:latin typeface="Symbol"/>
              </a:rPr>
              <a:t></a:t>
            </a: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 véletlen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A kísérletnek </a:t>
            </a:r>
            <a:r>
              <a:rPr b="0" i="1" lang="hu-HU" sz="2400" spc="-1" strike="noStrike">
                <a:solidFill>
                  <a:srgbClr val="000000"/>
                </a:solidFill>
                <a:latin typeface="Aptos"/>
              </a:rPr>
              <a:t>véges</a:t>
            </a: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 számú különböző kimenete lehetséges. </a:t>
            </a:r>
            <a:r>
              <a:rPr b="0" lang="hu-HU" sz="2400" spc="-1" strike="noStrike">
                <a:solidFill>
                  <a:srgbClr val="000000"/>
                </a:solidFill>
                <a:latin typeface="Symbol"/>
              </a:rPr>
              <a:t></a:t>
            </a: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 elemi események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Ezek a kimenetek egyenlő valószínűséggel következnek be.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687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Egy elemi esemény valószínűsége , ahol  az elemi események száma.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687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Ha egy  esemény  db elemi esemény összegeként adódik, akkor 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687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3.  Axiomatikus megközelítés – </a:t>
            </a:r>
            <a:br>
              <a:rPr sz="3300"/>
            </a:b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Eseményalgebra (11. osztály)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85800" y="1600200"/>
            <a:ext cx="7772040" cy="4060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000"/>
          </a:bodyPr>
          <a:p>
            <a:pPr marL="687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Halmazalgebrai analógiák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Esemény, elemi esemény, összetett esemény, eseménytér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Események összege, szorzata, ellentettje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Egymást kizáró események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Teljes eseményrendszer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Példa: </a:t>
            </a:r>
            <a:r>
              <a:rPr b="0" i="1" lang="hu-HU" sz="2400" spc="-1" strike="noStrike">
                <a:solidFill>
                  <a:srgbClr val="000000"/>
                </a:solidFill>
                <a:latin typeface="Aptos"/>
              </a:rPr>
              <a:t>Egy diák vonattal Budapestre utazik. Legyen A az az esemény, hogy az út során zenét hallgat, B az, hogy internetezik, C pedig az, hogy olvas. Írja le szövegesen, mit jelentenek az alábbi események: 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" dur="indefinite" restart="never" nodeType="tmRoot">
          <p:childTnLst>
            <p:seq>
              <p:cTn id="54" dur="indefinite" nodeType="mainSeq">
                <p:childTnLst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 valószínűség fogalma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Definíció: Legyen adott a H eseménytér.  Az eseménytérhez tartozó események halmazán értelmezett  valós értékű függvényt az esemény valószínűségnek nevezzük, ha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925920" indent="-4572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 – 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ra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925920" indent="-4572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  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esetén.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Tulajdonságok: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9" dur="indefinite" restart="never" nodeType="tmRoot">
          <p:childTnLst>
            <p:seq>
              <p:cTn id="80" dur="indefinite" nodeType="mainSeq">
                <p:childTnLst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Példák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395640" y="1196640"/>
            <a:ext cx="8424720" cy="1223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000"/>
          </a:bodyPr>
          <a:p>
            <a:pPr marL="525960" indent="-4572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rabicPeriod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Egy szabályos dobókockával kétszer dobva, mi a valószínűsége annak, hogy a dobott számok a) összege prím; b) szorzata prím; c) összege </a:t>
            </a:r>
            <a:r>
              <a:rPr b="0" i="1" lang="hu-HU" sz="2200" spc="-1" strike="noStrike">
                <a:solidFill>
                  <a:srgbClr val="000000"/>
                </a:solidFill>
                <a:latin typeface="Aptos"/>
              </a:rPr>
              <a:t>9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-nél kisebb?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687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07" name="Picture 2" descr=""/>
          <p:cNvPicPr/>
          <p:nvPr/>
        </p:nvPicPr>
        <p:blipFill>
          <a:blip r:embed="rId1"/>
          <a:stretch/>
        </p:blipFill>
        <p:spPr>
          <a:xfrm>
            <a:off x="1043640" y="2421000"/>
            <a:ext cx="7452360" cy="302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Diszkrét valószínűségeloszlások, várható érték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85800" y="1392480"/>
            <a:ext cx="7772040" cy="1316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Teljes eseményrendszer eseményeinek valószínűségeit határozzuk meg.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A valószínűségeket oszlopdiagramon ábrázoljuk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10" name="Kép 5" descr=""/>
          <p:cNvPicPr/>
          <p:nvPr/>
        </p:nvPicPr>
        <p:blipFill>
          <a:blip r:embed="rId1"/>
          <a:srcRect l="35438" t="24800" r="39756" b="48540"/>
          <a:stretch/>
        </p:blipFill>
        <p:spPr>
          <a:xfrm>
            <a:off x="4329360" y="2535480"/>
            <a:ext cx="4536000" cy="274176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sp>
        <p:nvSpPr>
          <p:cNvPr id="111" name="Szövegdoboz 6"/>
          <p:cNvSpPr/>
          <p:nvPr/>
        </p:nvSpPr>
        <p:spPr>
          <a:xfrm>
            <a:off x="137520" y="5229360"/>
            <a:ext cx="8868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hu-HU" sz="1800" spc="-1" strike="noStrike">
                <a:solidFill>
                  <a:srgbClr val="000000"/>
                </a:solidFill>
                <a:latin typeface="Aptos"/>
              </a:rPr>
              <a:t>A hatos dobás M várható értéke: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112" name="Szövegdoboz 4"/>
          <p:cNvSpPr/>
          <p:nvPr/>
        </p:nvSpPr>
        <p:spPr>
          <a:xfrm>
            <a:off x="398880" y="2642760"/>
            <a:ext cx="3789720" cy="310608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68760">
              <a:lnSpc>
                <a:spcPct val="100000"/>
              </a:lnSpc>
              <a:spcBef>
                <a:spcPts val="700"/>
              </a:spcBef>
              <a:buNone/>
            </a:pPr>
            <a:r>
              <a:rPr b="0" lang="hu-HU" sz="2200" spc="-1" strike="noStrike">
                <a:solidFill>
                  <a:srgbClr val="000000"/>
                </a:solidFill>
                <a:latin typeface="Gill Sans MT"/>
              </a:rPr>
              <a:t>Példa: Dobjunk fel 5 dobókockát és számoljuk meg, hány hatost dobunk. Legyen k a dobott hatosok száma.  Az egyes k értékekhez tartozó valószínűségeket ábrázoljuk oszlopdiagrammon: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Események függetlensége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Két esemény független, ha az egyik esemény bekövetkezése nem befolyásolja a másik esemény valószínűségét.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Példa független eseményekre:  32 lapos kártyából ászt ill. pirosat választunk. 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Példa nem független eseményekre: 30 lányból 12 szőke, 10 kék szemű. A szőkék közül 8 kék szemű. Kék szeműt választunk az összes  közül, vagy kék szeműt választunk a szőkék közül.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Visszatevéses mintavétel</a:t>
            </a:r>
            <a:br>
              <a:rPr sz="3300"/>
            </a:b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binomiális eloszlás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83640" y="1340640"/>
            <a:ext cx="7772040" cy="4608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525960" indent="-4572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rabicPeriod" startAt="2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Egy zsákban  db golyó van:  3 sárga, 7 piros színű. Egymás után -ször húzunk 1-1 golyót visszatevéssel. Mennyi a valószínűsége, hogy az  húzás eredménye között pontosan  sárga lesz?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Összes estek száma:  </a:t>
            </a:r>
            <a:r>
              <a:rPr b="0" lang="hu-HU" sz="2200" spc="-1" strike="noStrike">
                <a:solidFill>
                  <a:srgbClr val="000000"/>
                </a:solidFill>
                <a:latin typeface="Symbol"/>
              </a:rPr>
              <a:t>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 ismétléses variáció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Kedvező esetek száma: 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687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Annak a valószínűsége, hogy egy </a:t>
            </a:r>
            <a:r>
              <a:rPr b="0" i="1" lang="hu-HU" sz="2200" spc="-1" strike="noStrike">
                <a:solidFill>
                  <a:srgbClr val="000000"/>
                </a:solidFill>
                <a:latin typeface="Aptos"/>
              </a:rPr>
              <a:t>n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-szer elvégzett kísérletsorozat során egy </a:t>
            </a:r>
            <a:r>
              <a:rPr b="0" i="1" lang="hu-HU" sz="2200" spc="-1" strike="noStrike">
                <a:solidFill>
                  <a:srgbClr val="000000"/>
                </a:solidFill>
                <a:latin typeface="Aptos"/>
              </a:rPr>
              <a:t>p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 valószínűségű esemény éppen </a:t>
            </a:r>
            <a:r>
              <a:rPr b="0" i="1" lang="hu-HU" sz="2200" spc="-1" strike="noStrike">
                <a:solidFill>
                  <a:srgbClr val="000000"/>
                </a:solidFill>
                <a:latin typeface="Aptos"/>
              </a:rPr>
              <a:t>k</a:t>
            </a: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-szor fordul elő: .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687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9" dur="indefinite" restart="never" nodeType="tmRoot">
          <p:childTnLst>
            <p:seq>
              <p:cTn id="100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83640" y="11664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2800" spc="-1" strike="noStrike">
                <a:solidFill>
                  <a:srgbClr val="000000"/>
                </a:solidFill>
                <a:latin typeface="Aptos Display"/>
              </a:rPr>
              <a:t>Visszatevés nélküli mintavétel</a:t>
            </a:r>
            <a:br>
              <a:rPr sz="2800"/>
            </a:br>
            <a:r>
              <a:rPr b="0" lang="hu-HU" sz="2800" spc="-1" strike="noStrike">
                <a:solidFill>
                  <a:srgbClr val="000000"/>
                </a:solidFill>
                <a:latin typeface="Aptos Display"/>
              </a:rPr>
              <a:t>hipergeometrikus eloszlás</a:t>
            </a:r>
            <a:endParaRPr b="0" lang="hu-HU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67640" y="1052640"/>
            <a:ext cx="8424720" cy="4968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525960" indent="-4572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ptos Display"/>
              <a:buAutoNum type="arabicPeriod" startAt="3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Egy zsákban 10 db golyó van:  3 sárga és 7 piros színű. Egymás után 5-ször húzunk 1-1 golyót visszatevés nélkül. Mennyi a valószínűsége, hogy az 5 húzás eredménye között pontosan 2 sárga lesz?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Összes esetek száma:  ismétlés nélküli kombináció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Kedvező esetek száma: 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687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Legyen adott  számú elem, közülük legyen  valamilyen szempontból kitüntetett.  Annak a valószínűsége, hogy az  elem közül -et kiválasztva a kiválasztottak közt éppen  darab kitüntetett legyen: 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3" dur="indefinite" restart="never" nodeType="tmRoot">
          <p:childTnLst>
            <p:seq>
              <p:cTn id="124" dur="indefinite" nodeType="mainSeq">
                <p:childTnLst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A/11/210/23.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20" name="Kép 4" descr=""/>
          <p:cNvPicPr/>
          <p:nvPr/>
        </p:nvPicPr>
        <p:blipFill>
          <a:blip r:embed="rId1"/>
          <a:stretch/>
        </p:blipFill>
        <p:spPr>
          <a:xfrm>
            <a:off x="445320" y="1484640"/>
            <a:ext cx="8060760" cy="1661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A/11/211/36.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22" name="Kép 4" descr=""/>
          <p:cNvPicPr/>
          <p:nvPr/>
        </p:nvPicPr>
        <p:blipFill>
          <a:blip r:embed="rId1"/>
          <a:stretch/>
        </p:blipFill>
        <p:spPr>
          <a:xfrm>
            <a:off x="1475640" y="2205000"/>
            <a:ext cx="5553360" cy="3638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Adatgyűjtés,  adatábrázolás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Adatgyűjtés és adatlejegyzés megfigyelés vagy kísérlet alapján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Adatábrázolás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Táblázat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Diagram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2" marL="85716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Pontdiagram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2" marL="85716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Vonaldiagram (grafikon)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2" marL="85716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Oszlopdiagram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lvl="2" marL="85716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Kördiagram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Diagramok elemzése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683640" y="1196640"/>
            <a:ext cx="7992360" cy="1295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Diagramból táblázat készítése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Diagramokról leolvasható statisztikai jellemzők (módusz, terjedelem, maximális, minimális érték stb.)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27" name="Picture 2" descr=""/>
          <p:cNvPicPr/>
          <p:nvPr/>
        </p:nvPicPr>
        <p:blipFill>
          <a:blip r:embed="rId1"/>
          <a:srcRect l="10506" t="3390" r="3297" b="4577"/>
          <a:stretch/>
        </p:blipFill>
        <p:spPr>
          <a:xfrm>
            <a:off x="395640" y="2637000"/>
            <a:ext cx="3735720" cy="2664000"/>
          </a:xfrm>
          <a:prstGeom prst="rect">
            <a:avLst/>
          </a:prstGeom>
          <a:ln w="0">
            <a:noFill/>
          </a:ln>
        </p:spPr>
      </p:pic>
      <p:sp>
        <p:nvSpPr>
          <p:cNvPr id="128" name="Téglalap 3"/>
          <p:cNvSpPr/>
          <p:nvPr/>
        </p:nvSpPr>
        <p:spPr>
          <a:xfrm>
            <a:off x="4500000" y="2421000"/>
            <a:ext cx="4320000" cy="41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A sportegyesület éves bevételeinek megoszlását tartalmazza a következő kördiagram. Tudjuk, hogy a bérleti díjból származó bevétele 600.000 forint volt. Az emléktárgyak eladásából származó bevétel összege 1,2 millió forint.  Határozzuk meg a bérletekből származó bevételt; a jegyekhez tartozó összeget; a teljes bevételt! 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5" dur="indefinite" restart="never" nodeType="tmRoot">
          <p:childTnLst>
            <p:seq>
              <p:cTn id="146" dur="indefinite" nodeType="mainSeq">
                <p:childTnLst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Adatsokaságok (számsokaságok) statisztikai jellemzői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Gyakoriság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Relatív gyakoriság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Átlag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lvl="1" marL="514440" indent="-17136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Számtani közép, súlyozott számtani közép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Módusz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Medián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Terjedelem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Átlagtól való átlagos abszolút eltérés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200" spc="-1" strike="noStrike">
                <a:solidFill>
                  <a:srgbClr val="000000"/>
                </a:solidFill>
                <a:latin typeface="Aptos"/>
              </a:rPr>
              <a:t>Szórás (négyzetes szórás)</a:t>
            </a:r>
            <a:endParaRPr b="0" lang="hu-HU" sz="22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1" dur="indefinite" restart="never" nodeType="tmRoot">
          <p:childTnLst>
            <p:seq>
              <p:cTn id="162" dur="indefinite" nodeType="mainSeq">
                <p:childTnLst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Adatsorból gyakoriságtáblázat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685800" y="1600200"/>
            <a:ext cx="7772040" cy="2980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687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Példa: 30 családban vizsgáltuk meg a gyermekek számát. A következő adatsort kaptuk: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687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2; 1; 2; 2; 2; 2; 0; 1; 3; 1; 1; 0; 4; 2; 2; 1; 0; 3; 5; 1; 0; 0; 2; 2; 1; 3; 3;  2; 0; 6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687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Határozza meg a fenti adatsor mediánját, móduszát, és az átlagos gyermekszámot!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400" spc="-1" strike="noStrike">
                <a:solidFill>
                  <a:srgbClr val="000000"/>
                </a:solidFill>
                <a:latin typeface="Aptos"/>
              </a:rPr>
              <a:t>Gyakorisági táblázat:</a:t>
            </a:r>
            <a:endParaRPr b="0" lang="hu-HU" sz="2400" spc="-1" strike="noStrike">
              <a:solidFill>
                <a:srgbClr val="000000"/>
              </a:solidFill>
              <a:latin typeface="Aptos"/>
            </a:endParaRPr>
          </a:p>
        </p:txBody>
      </p:sp>
      <p:graphicFrame>
        <p:nvGraphicFramePr>
          <p:cNvPr id="133" name="Táblázat 5"/>
          <p:cNvGraphicFramePr/>
          <p:nvPr/>
        </p:nvGraphicFramePr>
        <p:xfrm>
          <a:off x="2195640" y="4509000"/>
          <a:ext cx="6120360" cy="1007640"/>
        </p:xfrm>
        <a:graphic>
          <a:graphicData uri="http://schemas.openxmlformats.org/drawingml/2006/table">
            <a:tbl>
              <a:tblPr/>
              <a:tblGrid>
                <a:gridCol w="2448000"/>
                <a:gridCol w="432000"/>
                <a:gridCol w="576000"/>
                <a:gridCol w="576000"/>
                <a:gridCol w="504000"/>
                <a:gridCol w="432000"/>
                <a:gridCol w="576000"/>
                <a:gridCol w="576360"/>
              </a:tblGrid>
              <a:tr h="504000">
                <a:tc>
                  <a:txBody>
                    <a:bodyPr lIns="68400" rIns="68400" tIns="0" bIns="0" anchor="t">
                      <a:noAutofit/>
                    </a:bodyPr>
                    <a:p>
                      <a:pPr algn="just">
                        <a:lnSpc>
                          <a:spcPct val="107000"/>
                        </a:lnSpc>
                        <a:spcAft>
                          <a:spcPts val="601"/>
                        </a:spcAft>
                        <a:buNone/>
                      </a:pPr>
                      <a:r>
                        <a:rPr b="1" lang="hu-HU" sz="22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Gyermekszám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spcAft>
                          <a:spcPts val="601"/>
                        </a:spcAft>
                        <a:buNone/>
                      </a:pPr>
                      <a:r>
                        <a:rPr b="1" lang="hu-HU" sz="22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0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spcAft>
                          <a:spcPts val="601"/>
                        </a:spcAft>
                        <a:buNone/>
                      </a:pPr>
                      <a:r>
                        <a:rPr b="1" lang="hu-HU" sz="22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1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spcAft>
                          <a:spcPts val="601"/>
                        </a:spcAft>
                        <a:buNone/>
                      </a:pPr>
                      <a:r>
                        <a:rPr b="1" lang="hu-HU" sz="22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2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spcAft>
                          <a:spcPts val="601"/>
                        </a:spcAft>
                        <a:buNone/>
                      </a:pPr>
                      <a:r>
                        <a:rPr b="1" lang="hu-HU" sz="22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3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spcAft>
                          <a:spcPts val="601"/>
                        </a:spcAft>
                        <a:buNone/>
                      </a:pPr>
                      <a:r>
                        <a:rPr b="1" lang="hu-HU" sz="22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4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spcAft>
                          <a:spcPts val="601"/>
                        </a:spcAft>
                        <a:buNone/>
                      </a:pPr>
                      <a:r>
                        <a:rPr b="1" lang="hu-HU" sz="22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5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spcAft>
                          <a:spcPts val="601"/>
                        </a:spcAft>
                        <a:buNone/>
                      </a:pPr>
                      <a:r>
                        <a:rPr b="1" lang="hu-HU" sz="22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6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</a:tr>
              <a:tr h="504000">
                <a:tc>
                  <a:txBody>
                    <a:bodyPr lIns="68400" rIns="68400" tIns="0" bIns="0" anchor="t">
                      <a:noAutofit/>
                    </a:bodyPr>
                    <a:p>
                      <a:pPr algn="just">
                        <a:lnSpc>
                          <a:spcPct val="107000"/>
                        </a:lnSpc>
                        <a:spcAft>
                          <a:spcPts val="601"/>
                        </a:spcAft>
                        <a:buNone/>
                      </a:pPr>
                      <a:r>
                        <a:rPr b="1" lang="hu-HU" sz="22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Családok száma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spcAft>
                          <a:spcPts val="601"/>
                        </a:spcAft>
                        <a:buNone/>
                      </a:pPr>
                      <a:r>
                        <a:rPr b="0" lang="hu-HU" sz="2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6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spcAft>
                          <a:spcPts val="601"/>
                        </a:spcAft>
                        <a:buNone/>
                      </a:pPr>
                      <a:r>
                        <a:rPr b="0" lang="hu-HU" sz="2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7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spcAft>
                          <a:spcPts val="601"/>
                        </a:spcAft>
                        <a:buNone/>
                      </a:pPr>
                      <a:r>
                        <a:rPr b="0" lang="hu-HU" sz="2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10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spcAft>
                          <a:spcPts val="601"/>
                        </a:spcAft>
                        <a:buNone/>
                      </a:pPr>
                      <a:r>
                        <a:rPr b="0" lang="hu-HU" sz="2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4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spcAft>
                          <a:spcPts val="601"/>
                        </a:spcAft>
                        <a:buNone/>
                      </a:pPr>
                      <a:r>
                        <a:rPr b="0" lang="hu-HU" sz="2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spcAft>
                          <a:spcPts val="601"/>
                        </a:spcAft>
                        <a:buNone/>
                      </a:pPr>
                      <a:r>
                        <a:rPr b="0" lang="hu-HU" sz="2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spcAft>
                          <a:spcPts val="601"/>
                        </a:spcAft>
                        <a:buNone/>
                      </a:pPr>
                      <a:r>
                        <a:rPr b="0" lang="hu-HU" sz="2200" spc="-1" strike="noStrike">
                          <a:solidFill>
                            <a:srgbClr val="000000"/>
                          </a:solidFill>
                          <a:latin typeface="Aptos"/>
                        </a:rPr>
                        <a:t>1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2d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7" dur="indefinite" restart="never" nodeType="tmRoot">
          <p:childTnLst>
            <p:seq>
              <p:cTn id="198" dur="indefinite" nodeType="mainSeq">
                <p:childTnLst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Kvartilisek és a dobozdiagramm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685800" y="1600200"/>
            <a:ext cx="7772040" cy="3196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A rendezett mintát négy egyenlő darabszámú részre bontjuk. 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A részeket a kvartilisek határozzák meg: Q</a:t>
            </a:r>
            <a:r>
              <a:rPr b="0" lang="hu-HU" sz="2100" spc="-1" strike="noStrike" baseline="-25000">
                <a:solidFill>
                  <a:srgbClr val="000000"/>
                </a:solidFill>
                <a:latin typeface="Aptos"/>
              </a:rPr>
              <a:t>0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, Q</a:t>
            </a:r>
            <a:r>
              <a:rPr b="0" lang="hu-HU" sz="2100" spc="-1" strike="noStrike" baseline="-25000">
                <a:solidFill>
                  <a:srgbClr val="000000"/>
                </a:solidFill>
                <a:latin typeface="Aptos"/>
              </a:rPr>
              <a:t>1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, Q</a:t>
            </a:r>
            <a:r>
              <a:rPr b="0" lang="hu-HU" sz="2100" spc="-1" strike="noStrike" baseline="-25000">
                <a:solidFill>
                  <a:srgbClr val="000000"/>
                </a:solidFill>
                <a:latin typeface="Aptos"/>
              </a:rPr>
              <a:t>2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, Q</a:t>
            </a:r>
            <a:r>
              <a:rPr b="0" lang="hu-HU" sz="2100" spc="-1" strike="noStrike" baseline="-25000">
                <a:solidFill>
                  <a:srgbClr val="000000"/>
                </a:solidFill>
                <a:latin typeface="Aptos"/>
              </a:rPr>
              <a:t>3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, Q</a:t>
            </a:r>
            <a:r>
              <a:rPr b="0" lang="hu-HU" sz="2100" spc="-1" strike="noStrike" baseline="-25000">
                <a:solidFill>
                  <a:srgbClr val="000000"/>
                </a:solidFill>
                <a:latin typeface="Aptos"/>
              </a:rPr>
              <a:t>4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687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	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Q</a:t>
            </a:r>
            <a:r>
              <a:rPr b="0" lang="hu-HU" sz="2100" spc="-1" strike="noStrike" baseline="-25000">
                <a:solidFill>
                  <a:srgbClr val="000000"/>
                </a:solidFill>
                <a:latin typeface="Aptos"/>
              </a:rPr>
              <a:t>0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 a minta minimuma, Q</a:t>
            </a:r>
            <a:r>
              <a:rPr b="0" lang="hu-HU" sz="2100" spc="-1" strike="noStrike" baseline="-25000">
                <a:solidFill>
                  <a:srgbClr val="000000"/>
                </a:solidFill>
                <a:latin typeface="Aptos"/>
              </a:rPr>
              <a:t>4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 a maximuma, Q</a:t>
            </a:r>
            <a:r>
              <a:rPr b="0" lang="hu-HU" sz="2100" spc="-1" strike="noStrike" baseline="-25000">
                <a:solidFill>
                  <a:srgbClr val="000000"/>
                </a:solidFill>
                <a:latin typeface="Aptos"/>
              </a:rPr>
              <a:t>2 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a mediánja, 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6876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	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Q</a:t>
            </a:r>
            <a:r>
              <a:rPr b="0" lang="hu-HU" sz="2100" spc="-1" strike="noStrike" baseline="-25000">
                <a:solidFill>
                  <a:srgbClr val="000000"/>
                </a:solidFill>
                <a:latin typeface="Aptos"/>
              </a:rPr>
              <a:t>1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 az alsó kvartilise, Q</a:t>
            </a:r>
            <a:r>
              <a:rPr b="0" lang="hu-HU" sz="2100" spc="-1" strike="noStrike" baseline="-25000">
                <a:solidFill>
                  <a:srgbClr val="000000"/>
                </a:solidFill>
                <a:latin typeface="Aptos"/>
              </a:rPr>
              <a:t>3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 a felső kvartilise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Az alsó és felső kvartilis meghatározásánál a mediánt nem vesszük figyelembe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Terjedelem: Q</a:t>
            </a:r>
            <a:r>
              <a:rPr b="0" lang="hu-HU" sz="2100" spc="-1" strike="noStrike" baseline="-25000">
                <a:solidFill>
                  <a:srgbClr val="000000"/>
                </a:solidFill>
                <a:latin typeface="Aptos"/>
              </a:rPr>
              <a:t>4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-Q</a:t>
            </a:r>
            <a:r>
              <a:rPr b="0" lang="hu-HU" sz="2100" spc="-1" strike="noStrike" baseline="-25000">
                <a:solidFill>
                  <a:srgbClr val="000000"/>
                </a:solidFill>
                <a:latin typeface="Aptos"/>
              </a:rPr>
              <a:t>0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, Interkvartilis (vagy Fél-) terjedelem: Q</a:t>
            </a:r>
            <a:r>
              <a:rPr b="0" lang="hu-HU" sz="2100" spc="-1" strike="noStrike" baseline="-25000">
                <a:solidFill>
                  <a:srgbClr val="000000"/>
                </a:solidFill>
                <a:latin typeface="Aptos"/>
              </a:rPr>
              <a:t>3</a:t>
            </a: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-Q</a:t>
            </a:r>
            <a:r>
              <a:rPr b="0" lang="hu-HU" sz="2100" spc="-1" strike="noStrike" baseline="-25000">
                <a:solidFill>
                  <a:srgbClr val="000000"/>
                </a:solidFill>
                <a:latin typeface="Aptos"/>
              </a:rPr>
              <a:t>1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  <a:p>
            <a:pPr marL="171360" indent="-17136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u-HU" sz="2100" spc="-1" strike="noStrike">
                <a:solidFill>
                  <a:srgbClr val="000000"/>
                </a:solidFill>
                <a:latin typeface="Aptos"/>
              </a:rPr>
              <a:t>Doboz (box-plot, sodrófa) diagram: </a:t>
            </a:r>
            <a:endParaRPr b="0" lang="hu-HU" sz="21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36" name="Kép 3" descr=""/>
          <p:cNvPicPr/>
          <p:nvPr/>
        </p:nvPicPr>
        <p:blipFill>
          <a:blip r:embed="rId1"/>
          <a:srcRect l="48038" t="16252" r="33850" b="67798"/>
          <a:stretch/>
        </p:blipFill>
        <p:spPr>
          <a:xfrm>
            <a:off x="5603400" y="0"/>
            <a:ext cx="3312000" cy="1640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A/11/170/3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38" name="Kép 4" descr=""/>
          <p:cNvPicPr/>
          <p:nvPr/>
        </p:nvPicPr>
        <p:blipFill>
          <a:blip r:embed="rId1"/>
          <a:stretch/>
        </p:blipFill>
        <p:spPr>
          <a:xfrm>
            <a:off x="24120" y="2271600"/>
            <a:ext cx="9143640" cy="231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hu-HU" sz="3300" spc="-1" strike="noStrike">
                <a:solidFill>
                  <a:srgbClr val="000000"/>
                </a:solidFill>
                <a:latin typeface="Aptos Display"/>
              </a:rPr>
              <a:t>A/11/162/3.</a:t>
            </a:r>
            <a:endParaRPr b="0" lang="hu-HU" sz="33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140" name="Kép 4" descr=""/>
          <p:cNvPicPr/>
          <p:nvPr/>
        </p:nvPicPr>
        <p:blipFill>
          <a:blip r:embed="rId1"/>
          <a:srcRect l="0" t="1109" r="0" b="51136"/>
          <a:stretch/>
        </p:blipFill>
        <p:spPr>
          <a:xfrm>
            <a:off x="0" y="1484640"/>
            <a:ext cx="9143640" cy="3024000"/>
          </a:xfrm>
          <a:prstGeom prst="rect">
            <a:avLst/>
          </a:prstGeom>
          <a:ln w="0">
            <a:noFill/>
          </a:ln>
        </p:spPr>
      </p:pic>
      <p:pic>
        <p:nvPicPr>
          <p:cNvPr id="141" name="Kép 5" descr=""/>
          <p:cNvPicPr/>
          <p:nvPr/>
        </p:nvPicPr>
        <p:blipFill>
          <a:blip r:embed="rId2"/>
          <a:srcRect l="4753" t="0" r="0" b="0"/>
          <a:stretch/>
        </p:blipFill>
        <p:spPr>
          <a:xfrm>
            <a:off x="323640" y="4581000"/>
            <a:ext cx="8655120" cy="136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cbce387-4d7b-40e1-a6b4-c15e1bac21b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DCDD296FF75D6A4EA784C3EC7A5E13E0" ma:contentTypeVersion="18" ma:contentTypeDescription="Új dokumentum létrehozása." ma:contentTypeScope="" ma:versionID="21d50ba7d0af76b3e759d9fd815bb32a">
  <xsd:schema xmlns:xsd="http://www.w3.org/2001/XMLSchema" xmlns:xs="http://www.w3.org/2001/XMLSchema" xmlns:p="http://schemas.microsoft.com/office/2006/metadata/properties" xmlns:ns3="ccbce387-4d7b-40e1-a6b4-c15e1bac21b6" xmlns:ns4="3d296b12-95c1-4341-9225-712f0b2d7fe6" targetNamespace="http://schemas.microsoft.com/office/2006/metadata/properties" ma:root="true" ma:fieldsID="3778aa435683c62402585a12c9f69242" ns3:_="" ns4:_="">
    <xsd:import namespace="ccbce387-4d7b-40e1-a6b4-c15e1bac21b6"/>
    <xsd:import namespace="3d296b12-95c1-4341-9225-712f0b2d7fe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bce387-4d7b-40e1-a6b4-c15e1bac21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296b12-95c1-4341-9225-712f0b2d7fe6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2" nillable="true" ma:displayName="Megosztási tipp kivonat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6B7BAF-01E0-442F-8060-397E8967931C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3d296b12-95c1-4341-9225-712f0b2d7fe6"/>
    <ds:schemaRef ds:uri="ccbce387-4d7b-40e1-a6b4-c15e1bac21b6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322A673C-D4A6-4D97-83D6-2658E2E8FC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bce387-4d7b-40e1-a6b4-c15e1bac21b6"/>
    <ds:schemaRef ds:uri="3d296b12-95c1-4341-9225-712f0b2d7f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85A45CD-683C-48C2-96BE-D1576EAF08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5841</TotalTime>
  <Application>LibreOffice/7.3.7.2$Linux_X86_64 LibreOffice_project/30$Build-2</Application>
  <AppVersion>15.0000</AppVersion>
  <Words>1142</Words>
  <Paragraphs>121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2015-09-21T15:04:54Z</dcterms:created>
  <dc:creator>Tamás</dc:creator>
  <dc:description/>
  <dc:language>en-US</dc:language>
  <cp:lastModifiedBy/>
  <dcterms:modified xsi:type="dcterms:W3CDTF">2026-01-14T22:13:24Z</dcterms:modified>
  <cp:revision>49</cp:revision>
  <dc:subject/>
  <dc:title>Valószínűség, statisztika tanítása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0x010100DCDD296FF75D6A4EA784C3EC7A5E13E0</vt:lpwstr>
  </property>
  <property fmtid="{D5CDD505-2E9C-101B-9397-08002B2CF9AE}" pid="3" name="Notes">
    <vt:i4>1</vt:i4>
  </property>
  <property fmtid="{D5CDD505-2E9C-101B-9397-08002B2CF9AE}" pid="4" name="PresentationFormat">
    <vt:lpwstr>Diavetítés a képernyőre (4:3 oldalarány)</vt:lpwstr>
  </property>
  <property fmtid="{D5CDD505-2E9C-101B-9397-08002B2CF9AE}" pid="5" name="Slides">
    <vt:i4>22</vt:i4>
  </property>
</Properties>
</file>