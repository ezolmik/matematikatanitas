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_rels/notesSlide14.xml.rels" ContentType="application/vnd.openxmlformats-package.relationships+xml"/>
  <Override PartName="/ppt/notesSlides/notesSlide14.xml" ContentType="application/vnd.openxmlformats-officedocument.presentationml.notesSlid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9.png" ContentType="image/png"/>
  <Override PartName="/ppt/media/image13.png" ContentType="image/png"/>
  <Override PartName="/ppt/media/image8.png" ContentType="image/png"/>
  <Override PartName="/ppt/media/image12.png" ContentType="image/png"/>
  <Override PartName="/ppt/media/image7.png" ContentType="image/png"/>
  <Override PartName="/ppt/media/image18.png" ContentType="image/png"/>
  <Override PartName="/ppt/media/image17.png" ContentType="image/png"/>
  <Override PartName="/ppt/media/image16.png" ContentType="image/png"/>
  <Override PartName="/ppt/media/image15.png" ContentType="image/png"/>
  <Override PartName="/ppt/media/image14.png" ContentType="image/png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10.png" ContentType="image/png"/>
  <Override PartName="/ppt/media/image6.png" ContentType="image/png"/>
  <Override PartName="/ppt/media/image11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20.xml.rels" ContentType="application/vnd.openxmlformats-package.relationships+xml"/>
  <Override PartName="/ppt/slides/_rels/slide2.xml.rels" ContentType="application/vnd.openxmlformats-package.relationships+xml"/>
  <Override PartName="/ppt/slides/_rels/slide19.xml.rels" ContentType="application/vnd.openxmlformats-package.relationships+xml"/>
  <Override PartName="/ppt/slides/_rels/slide21.xml.rels" ContentType="application/vnd.openxmlformats-package.relationships+xml"/>
  <Override PartName="/ppt/slides/_rels/slide3.xml.rels" ContentType="application/vnd.openxmlformats-package.relationships+xml"/>
  <Override PartName="/ppt/slides/_rels/slide22.xml.rels" ContentType="application/vnd.openxmlformats-package.relationships+xml"/>
  <Override PartName="/ppt/slides/_rels/slide23.xml.rels" ContentType="application/vnd.openxmlformats-package.relationships+xml"/>
  <Override PartName="/ppt/slides/_rels/slide14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9.xml.rels" ContentType="application/vnd.openxmlformats-package.relationships+xml"/>
  <Override PartName="/ppt/slides/_rels/slide25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24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hu-HU" sz="1800" spc="-1" strike="noStrike">
                <a:solidFill>
                  <a:srgbClr val="000000"/>
                </a:solidFill>
                <a:latin typeface="Aptos"/>
              </a:rPr>
              <a:t>Click to move the slide</a:t>
            </a:r>
            <a:endParaRPr b="0" lang="hu-HU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dt" idx="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ftr" idx="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87" name="PlaceHolder 6"/>
          <p:cNvSpPr>
            <a:spLocks noGrp="1"/>
          </p:cNvSpPr>
          <p:nvPr>
            <p:ph type="sldNum" idx="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4C8103E7-03ED-4FE2-8252-1FD287ED5DF1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4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hu-HU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D9C02F4-A36E-4671-AFF8-BF0A6C471EEB}" type="slidenum">
              <a:rPr b="0" lang="hu-HU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51157F5-EE60-48AA-82DA-9220B345A00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hu-HU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28560" y="1825560"/>
            <a:ext cx="788652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A8CEEFA-BBF0-4C7A-BAD4-7C64DA69963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hu-HU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788652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12A3513-018F-4B01-BCAD-FCE161EDE1E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hu-HU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384840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69920" y="1825560"/>
            <a:ext cx="384840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C8986C4-A0E5-4A0D-871C-4583ADFDD6A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hu-HU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FC8F802-63C4-4976-B2CD-BE16C86AB89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28560" y="365040"/>
            <a:ext cx="7886520" cy="614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45CFF9A-8570-413A-BF03-26DDD6948A9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hu-HU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38484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69920" y="1825560"/>
            <a:ext cx="384840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28560" y="4098240"/>
            <a:ext cx="38484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CAAEB3C-8B5F-4789-9BCE-7889FE435B3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hu-HU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384840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69920" y="1825560"/>
            <a:ext cx="38484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69920" y="4098240"/>
            <a:ext cx="38484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F80ED55-42AD-4284-9B3E-B0BFD4CE326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hu-HU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38484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69920" y="1825560"/>
            <a:ext cx="38484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28560" y="4098240"/>
            <a:ext cx="788652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0CB358B-DD32-4CF1-AB69-CC52F108441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hu-HU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788652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8560" y="4098240"/>
            <a:ext cx="788652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336E569-FCF9-4318-8E3E-268AA17FF99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hu-HU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38484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69920" y="1825560"/>
            <a:ext cx="38484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28560" y="4098240"/>
            <a:ext cx="38484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69920" y="4098240"/>
            <a:ext cx="38484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88D4B11-1A48-4575-84BD-E80744144FD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hu-HU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2539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95080" y="1825560"/>
            <a:ext cx="2539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5961240" y="1825560"/>
            <a:ext cx="2539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28560" y="4098240"/>
            <a:ext cx="2539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95080" y="4098240"/>
            <a:ext cx="2539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5961240" y="4098240"/>
            <a:ext cx="2539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2443EEF-E7F4-43B6-992E-461D4A815C4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F810420-45E7-4AA1-9C85-19C8A39F152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hu-HU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628560" y="1825560"/>
            <a:ext cx="788652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13BBAC5-D872-4A0A-BDFA-F239311C91A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hu-HU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788652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4D3C0AC-0212-4C2B-91D2-7893BB14E08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hu-HU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384840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4669920" y="1825560"/>
            <a:ext cx="384840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5FD811E-A58A-45DA-AE53-6DC8AC80502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hu-HU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1B7FC43-EC31-4AB6-8DDF-A2AA791E87D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628560" y="365040"/>
            <a:ext cx="7886520" cy="614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1E4247D-99D7-4D05-95D0-D42388C57BD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hu-HU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38484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4669920" y="1825560"/>
            <a:ext cx="384840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628560" y="4098240"/>
            <a:ext cx="38484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904C866-0342-4007-9228-660C9FDA357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hu-HU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384840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4669920" y="1825560"/>
            <a:ext cx="38484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4669920" y="4098240"/>
            <a:ext cx="38484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08F1BAC-3610-43C4-825B-610B3E17D33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hu-HU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38484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4669920" y="1825560"/>
            <a:ext cx="38484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628560" y="4098240"/>
            <a:ext cx="788652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D49CBC0-8245-442D-86F9-6594801778E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hu-HU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788652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28560" y="4098240"/>
            <a:ext cx="788652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F2090EB-B256-4C72-A6BB-2ED93D83F89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hu-HU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38484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4669920" y="1825560"/>
            <a:ext cx="38484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628560" y="4098240"/>
            <a:ext cx="38484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4669920" y="4098240"/>
            <a:ext cx="38484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D7C46A1-A40D-4C4B-AD73-BD33FB4A83D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hu-HU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2539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3295080" y="1825560"/>
            <a:ext cx="2539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5961240" y="1825560"/>
            <a:ext cx="2539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628560" y="4098240"/>
            <a:ext cx="2539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3295080" y="4098240"/>
            <a:ext cx="2539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5961240" y="4098240"/>
            <a:ext cx="2539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38CE216-5E98-4968-B09F-0334EF2E1B7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143000" y="1122480"/>
            <a:ext cx="6857640" cy="238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ctr">
              <a:lnSpc>
                <a:spcPct val="90000"/>
              </a:lnSpc>
              <a:buNone/>
            </a:pPr>
            <a:r>
              <a:rPr b="0" lang="hu-HU" sz="4500" spc="-1" strike="noStrike">
                <a:solidFill>
                  <a:srgbClr val="000000"/>
                </a:solidFill>
                <a:latin typeface="Aptos Display"/>
              </a:rPr>
              <a:t>Mintacím szerkesztése</a:t>
            </a:r>
            <a:endParaRPr b="0" lang="hu-HU" sz="45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628560" y="6356520"/>
            <a:ext cx="20570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hu-HU" sz="900" spc="-1" strike="noStrike">
                <a:solidFill>
                  <a:srgbClr val="787878"/>
                </a:solidFill>
                <a:latin typeface="Aptos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hu-HU" sz="900" spc="-1" strike="noStrike">
                <a:solidFill>
                  <a:srgbClr val="787878"/>
                </a:solidFill>
                <a:latin typeface="Aptos"/>
              </a:rPr>
              <a:t>&lt;date/time&gt;</a:t>
            </a:r>
            <a:endParaRPr b="0" lang="en-US" sz="9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029040" y="6356520"/>
            <a:ext cx="30859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458040" y="6356520"/>
            <a:ext cx="20570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hu-HU" sz="900" spc="-1" strike="noStrike">
                <a:solidFill>
                  <a:srgbClr val="787878"/>
                </a:solidFill>
                <a:latin typeface="Apto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FFED9E8-2335-4839-BADE-D7B3668DA911}" type="slidenum">
              <a:rPr b="0" lang="hu-HU" sz="900" spc="-1" strike="noStrike">
                <a:solidFill>
                  <a:srgbClr val="787878"/>
                </a:solidFill>
                <a:latin typeface="Aptos"/>
              </a:rPr>
              <a:t>&lt;number&gt;</a:t>
            </a:fld>
            <a:endParaRPr b="0" lang="en-US" sz="9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hu-HU" sz="2100" spc="-1" strike="noStrike">
                <a:solidFill>
                  <a:srgbClr val="000000"/>
                </a:solidFill>
                <a:latin typeface="Aptos"/>
              </a:rPr>
              <a:t>Click to edit the outline text format</a:t>
            </a: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hu-HU" sz="1500" spc="-1" strike="noStrike">
                <a:solidFill>
                  <a:srgbClr val="000000"/>
                </a:solidFill>
                <a:latin typeface="Aptos"/>
              </a:rPr>
              <a:t>Second Outline Level</a:t>
            </a:r>
            <a:endParaRPr b="0" lang="hu-HU" sz="1500" spc="-1" strike="noStrike">
              <a:solidFill>
                <a:srgbClr val="000000"/>
              </a:solidFill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hu-HU" sz="1350" spc="-1" strike="noStrike">
                <a:solidFill>
                  <a:srgbClr val="000000"/>
                </a:solidFill>
                <a:latin typeface="Aptos"/>
              </a:rPr>
              <a:t>Third Outline Level</a:t>
            </a:r>
            <a:endParaRPr b="0" lang="hu-HU" sz="1350" spc="-1" strike="noStrike">
              <a:solidFill>
                <a:srgbClr val="000000"/>
              </a:solidFill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hu-HU" sz="1350" spc="-1" strike="noStrike">
                <a:solidFill>
                  <a:srgbClr val="000000"/>
                </a:solidFill>
                <a:latin typeface="Aptos"/>
              </a:rPr>
              <a:t>Fourth Outline Level</a:t>
            </a:r>
            <a:endParaRPr b="0" lang="hu-HU" sz="1350" spc="-1" strike="noStrike">
              <a:solidFill>
                <a:srgbClr val="000000"/>
              </a:solidFill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hu-HU" sz="2000" spc="-1" strike="noStrike">
                <a:solidFill>
                  <a:srgbClr val="000000"/>
                </a:solidFill>
                <a:latin typeface="Aptos"/>
              </a:rPr>
              <a:t>Fifth Outline Level</a:t>
            </a:r>
            <a:endParaRPr b="0" lang="hu-HU" sz="2000" spc="-1" strike="noStrike">
              <a:solidFill>
                <a:srgbClr val="000000"/>
              </a:solidFill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hu-HU" sz="2000" spc="-1" strike="noStrike">
                <a:solidFill>
                  <a:srgbClr val="000000"/>
                </a:solidFill>
                <a:latin typeface="Aptos"/>
              </a:rPr>
              <a:t>Sixth Outline Level</a:t>
            </a:r>
            <a:endParaRPr b="0" lang="hu-HU" sz="2000" spc="-1" strike="noStrike">
              <a:solidFill>
                <a:srgbClr val="000000"/>
              </a:solidFill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hu-HU" sz="2000" spc="-1" strike="noStrike">
                <a:solidFill>
                  <a:srgbClr val="000000"/>
                </a:solidFill>
                <a:latin typeface="Aptos"/>
              </a:rPr>
              <a:t>Seventh Outline Level</a:t>
            </a:r>
            <a:endParaRPr b="0" lang="hu-HU" sz="20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hu-HU" sz="3300" spc="-1" strike="noStrike">
                <a:solidFill>
                  <a:srgbClr val="000000"/>
                </a:solidFill>
                <a:latin typeface="Aptos Display"/>
              </a:rPr>
              <a:t>Minta</a:t>
            </a:r>
            <a:r>
              <a:rPr b="0" lang="hu-HU" sz="3300" spc="-1" strike="noStrike">
                <a:solidFill>
                  <a:srgbClr val="000000"/>
                </a:solidFill>
                <a:latin typeface="Aptos Display"/>
              </a:rPr>
              <a:t>cím </a:t>
            </a:r>
            <a:r>
              <a:rPr b="0" lang="hu-HU" sz="3300" spc="-1" strike="noStrike">
                <a:solidFill>
                  <a:srgbClr val="000000"/>
                </a:solidFill>
                <a:latin typeface="Aptos Display"/>
              </a:rPr>
              <a:t>szerk</a:t>
            </a:r>
            <a:r>
              <a:rPr b="0" lang="hu-HU" sz="3300" spc="-1" strike="noStrike">
                <a:solidFill>
                  <a:srgbClr val="000000"/>
                </a:solidFill>
                <a:latin typeface="Aptos Display"/>
              </a:rPr>
              <a:t>eszté</a:t>
            </a:r>
            <a:r>
              <a:rPr b="0" lang="hu-HU" sz="3300" spc="-1" strike="noStrike">
                <a:solidFill>
                  <a:srgbClr val="000000"/>
                </a:solidFill>
                <a:latin typeface="Aptos Display"/>
              </a:rPr>
              <a:t>se</a:t>
            </a:r>
            <a:endParaRPr b="0" lang="hu-HU" sz="33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628560" y="1825560"/>
            <a:ext cx="788652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100" spc="-1" strike="noStrike">
                <a:solidFill>
                  <a:srgbClr val="000000"/>
                </a:solidFill>
                <a:latin typeface="Aptos"/>
              </a:rPr>
              <a:t>Mintaszöveg szerkesztése</a:t>
            </a: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  <a:p>
            <a:pPr lvl="1" marL="514440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1800" spc="-1" strike="noStrike">
                <a:solidFill>
                  <a:srgbClr val="000000"/>
                </a:solidFill>
                <a:latin typeface="Aptos"/>
              </a:rPr>
              <a:t>Második szint</a:t>
            </a:r>
            <a:endParaRPr b="0" lang="hu-HU" sz="1800" spc="-1" strike="noStrike">
              <a:solidFill>
                <a:srgbClr val="000000"/>
              </a:solidFill>
              <a:latin typeface="Aptos"/>
            </a:endParaRPr>
          </a:p>
          <a:p>
            <a:pPr lvl="2" marL="857160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1500" spc="-1" strike="noStrike">
                <a:solidFill>
                  <a:srgbClr val="000000"/>
                </a:solidFill>
                <a:latin typeface="Aptos"/>
              </a:rPr>
              <a:t>Harmadik szint</a:t>
            </a:r>
            <a:endParaRPr b="0" lang="hu-HU" sz="1500" spc="-1" strike="noStrike">
              <a:solidFill>
                <a:srgbClr val="000000"/>
              </a:solidFill>
              <a:latin typeface="Aptos"/>
            </a:endParaRPr>
          </a:p>
          <a:p>
            <a:pPr lvl="3" marL="1200240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1350" spc="-1" strike="noStrike">
                <a:solidFill>
                  <a:srgbClr val="000000"/>
                </a:solidFill>
                <a:latin typeface="Aptos"/>
              </a:rPr>
              <a:t>Negyedik szint</a:t>
            </a:r>
            <a:endParaRPr b="0" lang="hu-HU" sz="1350" spc="-1" strike="noStrike">
              <a:solidFill>
                <a:srgbClr val="000000"/>
              </a:solidFill>
              <a:latin typeface="Aptos"/>
            </a:endParaRPr>
          </a:p>
          <a:p>
            <a:pPr lvl="4" marL="1542960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1350" spc="-1" strike="noStrike">
                <a:solidFill>
                  <a:srgbClr val="000000"/>
                </a:solidFill>
                <a:latin typeface="Aptos"/>
              </a:rPr>
              <a:t>Ötödik szint</a:t>
            </a:r>
            <a:endParaRPr b="0" lang="hu-HU" sz="13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4"/>
          </p:nvPr>
        </p:nvSpPr>
        <p:spPr>
          <a:xfrm>
            <a:off x="628560" y="6356520"/>
            <a:ext cx="20570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hu-HU" sz="900" spc="-1" strike="noStrike">
                <a:solidFill>
                  <a:srgbClr val="787878"/>
                </a:solidFill>
                <a:latin typeface="Aptos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hu-HU" sz="900" spc="-1" strike="noStrike">
                <a:solidFill>
                  <a:srgbClr val="787878"/>
                </a:solidFill>
                <a:latin typeface="Aptos"/>
              </a:rPr>
              <a:t>&lt;date/time&gt;</a:t>
            </a:r>
            <a:endParaRPr b="0" lang="en-US" sz="9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 idx="5"/>
          </p:nvPr>
        </p:nvSpPr>
        <p:spPr>
          <a:xfrm>
            <a:off x="3029040" y="6356520"/>
            <a:ext cx="30859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 idx="6"/>
          </p:nvPr>
        </p:nvSpPr>
        <p:spPr>
          <a:xfrm>
            <a:off x="6458040" y="6356520"/>
            <a:ext cx="20570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hu-HU" sz="900" spc="-1" strike="noStrike">
                <a:solidFill>
                  <a:srgbClr val="787878"/>
                </a:solidFill>
                <a:latin typeface="Apto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53B2A1B-4ED6-4BC8-AD61-DC78E9DA2514}" type="slidenum">
              <a:rPr b="0" lang="hu-HU" sz="900" spc="-1" strike="noStrike">
                <a:solidFill>
                  <a:srgbClr val="787878"/>
                </a:solidFill>
                <a:latin typeface="Aptos"/>
              </a:rPr>
              <a:t>&lt;number&gt;</a:t>
            </a:fld>
            <a:endParaRPr b="0" lang="en-US" sz="9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1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1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3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png"/><Relationship Id="rId3" Type="http://schemas.openxmlformats.org/officeDocument/2006/relationships/slideLayout" Target="../slideLayouts/slideLayout13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1143000" y="1122480"/>
            <a:ext cx="6857640" cy="238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ctr">
              <a:lnSpc>
                <a:spcPct val="90000"/>
              </a:lnSpc>
              <a:buNone/>
            </a:pPr>
            <a:r>
              <a:rPr b="0" lang="hu-HU" sz="4500" spc="-1" strike="noStrike">
                <a:solidFill>
                  <a:srgbClr val="000000"/>
                </a:solidFill>
                <a:latin typeface="Aptos Display"/>
              </a:rPr>
              <a:t>Függvények, sorozatok</a:t>
            </a:r>
            <a:endParaRPr b="0" lang="hu-HU" sz="45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subTitle"/>
          </p:nvPr>
        </p:nvSpPr>
        <p:spPr>
          <a:xfrm>
            <a:off x="1143000" y="3602160"/>
            <a:ext cx="6857640" cy="1655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advTm="7000" p14:dur="2000"/>
    </mc:Choice>
    <mc:Fallback>
      <p:transition spd="slow" advTm="7000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>
              <a:lnSpc>
                <a:spcPct val="90000"/>
              </a:lnSpc>
              <a:buNone/>
            </a:pPr>
            <a:r>
              <a:rPr b="0" lang="hu-HU" sz="3300" spc="-1" strike="noStrike">
                <a:solidFill>
                  <a:srgbClr val="000000"/>
                </a:solidFill>
                <a:latin typeface="Aptos Display"/>
              </a:rPr>
              <a:t>A függvényfogalom előkészítése</a:t>
            </a:r>
            <a:br>
              <a:rPr sz="3300"/>
            </a:br>
            <a:r>
              <a:rPr b="0" lang="hu-HU" sz="3300" spc="-1" strike="noStrike">
                <a:solidFill>
                  <a:srgbClr val="000000"/>
                </a:solidFill>
                <a:latin typeface="Aptos Display"/>
              </a:rPr>
              <a:t>1-6. osztály</a:t>
            </a:r>
            <a:endParaRPr b="0" lang="hu-HU" sz="33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788652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Adott szabály követése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Szabályfelismerés és szabálykövetés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Szabályfelismerés és szabály megadása szöveggel, képlettel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>
              <a:lnSpc>
                <a:spcPct val="90000"/>
              </a:lnSpc>
              <a:spcBef>
                <a:spcPts val="751"/>
              </a:spcBef>
              <a:buNone/>
            </a:pP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</p:txBody>
      </p:sp>
      <p:pic>
        <p:nvPicPr>
          <p:cNvPr id="92" name="Picture 2" descr=""/>
          <p:cNvPicPr/>
          <p:nvPr/>
        </p:nvPicPr>
        <p:blipFill>
          <a:blip r:embed="rId1"/>
          <a:stretch/>
        </p:blipFill>
        <p:spPr>
          <a:xfrm>
            <a:off x="837360" y="2997000"/>
            <a:ext cx="7205400" cy="748800"/>
          </a:xfrm>
          <a:prstGeom prst="rect">
            <a:avLst/>
          </a:prstGeom>
          <a:ln w="0">
            <a:noFill/>
          </a:ln>
        </p:spPr>
      </p:pic>
      <p:pic>
        <p:nvPicPr>
          <p:cNvPr id="93" name="Picture 4" descr=""/>
          <p:cNvPicPr/>
          <p:nvPr/>
        </p:nvPicPr>
        <p:blipFill>
          <a:blip r:embed="rId2"/>
          <a:stretch/>
        </p:blipFill>
        <p:spPr>
          <a:xfrm>
            <a:off x="827640" y="4037040"/>
            <a:ext cx="7571880" cy="980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advTm="13000" p14:dur="2000"/>
    </mc:Choice>
    <mc:Fallback>
      <p:transition spd="slow" advTm="13000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>
              <a:lnSpc>
                <a:spcPct val="90000"/>
              </a:lnSpc>
              <a:buNone/>
            </a:pPr>
            <a:r>
              <a:rPr b="0" lang="hu-HU" sz="3300" spc="-1" strike="noStrike">
                <a:solidFill>
                  <a:srgbClr val="000000"/>
                </a:solidFill>
                <a:latin typeface="Aptos Display"/>
              </a:rPr>
              <a:t>Egyenes és fordított arányosság</a:t>
            </a:r>
            <a:br>
              <a:rPr sz="3300"/>
            </a:br>
            <a:r>
              <a:rPr b="0" lang="hu-HU" sz="3300" spc="-1" strike="noStrike">
                <a:solidFill>
                  <a:srgbClr val="000000"/>
                </a:solidFill>
                <a:latin typeface="Aptos Display"/>
              </a:rPr>
              <a:t>7-8. osztály</a:t>
            </a:r>
            <a:endParaRPr b="0" lang="hu-HU" sz="33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788652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100" spc="-1" strike="noStrike">
                <a:solidFill>
                  <a:srgbClr val="000000"/>
                </a:solidFill>
                <a:latin typeface="Aptos"/>
              </a:rPr>
              <a:t>Egy csapból egy tartályba másodpercenként 2 liter víz folyik. Mennyi víz van a tartályban a) ,  b) ,  c) ,  d),  e),  f)  múlva, ha a csap megnyitásakor a tartály üres volt?</a:t>
            </a: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  <a:p>
            <a:pPr marL="6876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hu-HU" sz="2100" spc="-1" strike="noStrike">
                <a:solidFill>
                  <a:srgbClr val="000000"/>
                </a:solidFill>
                <a:latin typeface="Aptos"/>
              </a:rPr>
              <a:t>	</a:t>
            </a:r>
            <a:r>
              <a:rPr b="0" lang="hu-HU" sz="2100" spc="-1" strike="noStrike">
                <a:solidFill>
                  <a:srgbClr val="000000"/>
                </a:solidFill>
                <a:latin typeface="Aptos"/>
              </a:rPr>
              <a:t>Készítsünk táblázatot, majd ábrázoljuk koordináta-rendszerben a megfelelő értékpárokat!</a:t>
            </a: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hu-HU" sz="2100" spc="-1" strike="noStrike">
                <a:solidFill>
                  <a:srgbClr val="000000"/>
                </a:solidFill>
                <a:latin typeface="Aptos"/>
              </a:rPr>
              <a:t>Egy autó egyenletesen haladva 40 km/h sebességgel bizonyos távolságot 2 óra alatt tesz meg. Mennyi idő alatt teszi meg ugyanezt az utat, ha sebessége 60 km/h?</a:t>
            </a: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  <a:p>
            <a:pPr marL="6876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hu-HU" sz="2100" spc="-1" strike="noStrike">
                <a:solidFill>
                  <a:srgbClr val="000000"/>
                </a:solidFill>
                <a:latin typeface="Aptos"/>
              </a:rPr>
              <a:t>	</a:t>
            </a:r>
            <a:r>
              <a:rPr b="0" lang="hu-HU" sz="2100" spc="-1" strike="noStrike">
                <a:solidFill>
                  <a:srgbClr val="000000"/>
                </a:solidFill>
                <a:latin typeface="Aptos"/>
              </a:rPr>
              <a:t>Milyen kapcsolat van az idő és a sebesség között? Adjunk meg </a:t>
            </a:r>
            <a:r>
              <a:rPr b="0" lang="hu-HU" sz="2100" spc="-1" strike="noStrike">
                <a:solidFill>
                  <a:srgbClr val="000000"/>
                </a:solidFill>
                <a:latin typeface="Aptos"/>
              </a:rPr>
              <a:t>	</a:t>
            </a:r>
            <a:r>
              <a:rPr b="0" lang="hu-HU" sz="2100" spc="-1" strike="noStrike">
                <a:solidFill>
                  <a:srgbClr val="000000"/>
                </a:solidFill>
                <a:latin typeface="Aptos"/>
              </a:rPr>
              <a:t>összetartozó sebesség-idő értékpárokat!</a:t>
            </a: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  <a:p>
            <a:pPr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>
              <a:lnSpc>
                <a:spcPct val="90000"/>
              </a:lnSpc>
              <a:buNone/>
            </a:pPr>
            <a:r>
              <a:rPr b="0" lang="hu-HU" sz="3300" spc="-1" strike="noStrike">
                <a:solidFill>
                  <a:srgbClr val="000000"/>
                </a:solidFill>
                <a:latin typeface="Aptos Display"/>
              </a:rPr>
              <a:t>A függvényfogalom bevezetése</a:t>
            </a:r>
            <a:br>
              <a:rPr sz="3300"/>
            </a:br>
            <a:r>
              <a:rPr b="0" lang="hu-HU" sz="3300" spc="-1" strike="noStrike">
                <a:solidFill>
                  <a:srgbClr val="000000"/>
                </a:solidFill>
                <a:latin typeface="Aptos Display"/>
              </a:rPr>
              <a:t>9. osztály</a:t>
            </a:r>
            <a:endParaRPr b="0" lang="hu-HU" sz="33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788652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100" spc="-1" strike="noStrike">
                <a:solidFill>
                  <a:srgbClr val="000000"/>
                </a:solidFill>
                <a:latin typeface="Aptos"/>
              </a:rPr>
              <a:t>Két halmaz közötti hozzárendelések vizsgálata</a:t>
            </a: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  <a:p>
            <a:pPr>
              <a:lnSpc>
                <a:spcPct val="90000"/>
              </a:lnSpc>
              <a:spcBef>
                <a:spcPts val="751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  <a:p>
            <a:pPr>
              <a:lnSpc>
                <a:spcPct val="90000"/>
              </a:lnSpc>
              <a:spcBef>
                <a:spcPts val="751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  <a:p>
            <a:pPr>
              <a:lnSpc>
                <a:spcPct val="90000"/>
              </a:lnSpc>
              <a:spcBef>
                <a:spcPts val="751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  <a:p>
            <a:pPr>
              <a:lnSpc>
                <a:spcPct val="90000"/>
              </a:lnSpc>
              <a:spcBef>
                <a:spcPts val="751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  <a:p>
            <a:pPr>
              <a:lnSpc>
                <a:spcPct val="90000"/>
              </a:lnSpc>
              <a:spcBef>
                <a:spcPts val="751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100" spc="-1" strike="noStrike">
                <a:solidFill>
                  <a:srgbClr val="000000"/>
                </a:solidFill>
                <a:latin typeface="Aptos"/>
              </a:rPr>
              <a:t>A függvény fogalma</a:t>
            </a: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100" spc="-1" strike="noStrike">
                <a:solidFill>
                  <a:srgbClr val="000000"/>
                </a:solidFill>
                <a:latin typeface="Aptos"/>
              </a:rPr>
              <a:t>A függvény megadása az értelmezési tartomány, a képhalmaz és a hozzárendelési szabály megadását jelenti.</a:t>
            </a: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pic>
        <p:nvPicPr>
          <p:cNvPr id="98" name="Picture 2" descr=""/>
          <p:cNvPicPr/>
          <p:nvPr/>
        </p:nvPicPr>
        <p:blipFill>
          <a:blip r:embed="rId1"/>
          <a:srcRect l="7022" t="56737" r="32818" b="17589"/>
          <a:stretch/>
        </p:blipFill>
        <p:spPr>
          <a:xfrm>
            <a:off x="904680" y="2421000"/>
            <a:ext cx="7334280" cy="1760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hu-HU" sz="3300" spc="-1" strike="noStrike">
                <a:solidFill>
                  <a:srgbClr val="000000"/>
                </a:solidFill>
                <a:latin typeface="Aptos Display"/>
              </a:rPr>
              <a:t>Függvénymegadási módok</a:t>
            </a:r>
            <a:endParaRPr b="0" lang="hu-HU" sz="33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467640" y="1600200"/>
            <a:ext cx="7990200" cy="3733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100" spc="-1" strike="noStrike">
                <a:solidFill>
                  <a:srgbClr val="000000"/>
                </a:solidFill>
                <a:latin typeface="Aptos"/>
              </a:rPr>
              <a:t>Szövegesen</a:t>
            </a: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100" spc="-1" strike="noStrike">
                <a:solidFill>
                  <a:srgbClr val="000000"/>
                </a:solidFill>
                <a:latin typeface="Aptos"/>
              </a:rPr>
              <a:t>Nyíldiagrammal</a:t>
            </a: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100" spc="-1" strike="noStrike">
                <a:solidFill>
                  <a:srgbClr val="000000"/>
                </a:solidFill>
                <a:latin typeface="Aptos"/>
              </a:rPr>
              <a:t>Táblázattal</a:t>
            </a: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100" spc="-1" strike="noStrike">
                <a:solidFill>
                  <a:srgbClr val="000000"/>
                </a:solidFill>
                <a:latin typeface="Aptos"/>
              </a:rPr>
              <a:t>Rendezett elempárok felsorolásával</a:t>
            </a: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100" spc="-1" strike="noStrike">
                <a:solidFill>
                  <a:srgbClr val="000000"/>
                </a:solidFill>
                <a:latin typeface="Aptos"/>
              </a:rPr>
              <a:t>Számegyenesekkel</a:t>
            </a: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100" spc="-1" strike="noStrike">
                <a:solidFill>
                  <a:srgbClr val="000000"/>
                </a:solidFill>
                <a:latin typeface="Aptos"/>
              </a:rPr>
              <a:t>Grafikonnal</a:t>
            </a: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100" spc="-1" strike="noStrike">
                <a:solidFill>
                  <a:srgbClr val="000000"/>
                </a:solidFill>
                <a:latin typeface="Aptos"/>
              </a:rPr>
              <a:t>Képlettel: </a:t>
            </a: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  <a:p>
            <a:pPr>
              <a:lnSpc>
                <a:spcPct val="90000"/>
              </a:lnSpc>
              <a:spcBef>
                <a:spcPts val="751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pic>
        <p:nvPicPr>
          <p:cNvPr id="101" name="Picture 2" descr=""/>
          <p:cNvPicPr/>
          <p:nvPr/>
        </p:nvPicPr>
        <p:blipFill>
          <a:blip r:embed="rId1"/>
          <a:srcRect l="47152" t="53055" r="30267" b="15177"/>
          <a:stretch/>
        </p:blipFill>
        <p:spPr>
          <a:xfrm>
            <a:off x="5730480" y="3420000"/>
            <a:ext cx="2752560" cy="2178360"/>
          </a:xfrm>
          <a:prstGeom prst="rect">
            <a:avLst/>
          </a:prstGeom>
          <a:ln w="0">
            <a:noFill/>
          </a:ln>
        </p:spPr>
      </p:pic>
      <p:pic>
        <p:nvPicPr>
          <p:cNvPr id="102" name="Picture 3" descr=""/>
          <p:cNvPicPr/>
          <p:nvPr/>
        </p:nvPicPr>
        <p:blipFill>
          <a:blip r:embed="rId2"/>
          <a:srcRect l="0" t="0" r="26096" b="66459"/>
          <a:stretch/>
        </p:blipFill>
        <p:spPr>
          <a:xfrm>
            <a:off x="1187640" y="4509000"/>
            <a:ext cx="4073040" cy="1085400"/>
          </a:xfrm>
          <a:prstGeom prst="rect">
            <a:avLst/>
          </a:prstGeom>
          <a:ln w="0">
            <a:noFill/>
          </a:ln>
        </p:spPr>
      </p:pic>
      <p:pic>
        <p:nvPicPr>
          <p:cNvPr id="103" name="Picture 4" descr=""/>
          <p:cNvPicPr/>
          <p:nvPr/>
        </p:nvPicPr>
        <p:blipFill>
          <a:blip r:embed="rId3"/>
          <a:srcRect l="50781" t="24581" r="31641" b="48194"/>
          <a:stretch/>
        </p:blipFill>
        <p:spPr>
          <a:xfrm>
            <a:off x="6300720" y="1379520"/>
            <a:ext cx="2142720" cy="1866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>
              <a:lnSpc>
                <a:spcPct val="90000"/>
              </a:lnSpc>
              <a:buNone/>
            </a:pPr>
            <a:r>
              <a:rPr b="0" lang="hu-HU" sz="3300" spc="-1" strike="noStrike">
                <a:solidFill>
                  <a:srgbClr val="000000"/>
                </a:solidFill>
                <a:latin typeface="Aptos Display"/>
              </a:rPr>
              <a:t>A függvényhez kötődő fogalmak</a:t>
            </a:r>
            <a:endParaRPr b="0" lang="hu-HU" sz="33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788652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100" spc="-1" strike="noStrike">
                <a:solidFill>
                  <a:srgbClr val="000000"/>
                </a:solidFill>
                <a:latin typeface="Aptos"/>
              </a:rPr>
              <a:t>Értelmezési tartomány</a:t>
            </a: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100" spc="-1" strike="noStrike">
                <a:solidFill>
                  <a:srgbClr val="000000"/>
                </a:solidFill>
                <a:latin typeface="Aptos"/>
              </a:rPr>
              <a:t>Képhalmaz</a:t>
            </a: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100" spc="-1" strike="noStrike">
                <a:solidFill>
                  <a:srgbClr val="000000"/>
                </a:solidFill>
                <a:latin typeface="Aptos"/>
              </a:rPr>
              <a:t>Értékkészlet</a:t>
            </a: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100" spc="-1" strike="noStrike">
                <a:solidFill>
                  <a:srgbClr val="000000"/>
                </a:solidFill>
                <a:latin typeface="Aptos"/>
              </a:rPr>
              <a:t>Helyettesítési érték</a:t>
            </a: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100" spc="-1" strike="noStrike">
                <a:solidFill>
                  <a:srgbClr val="000000"/>
                </a:solidFill>
                <a:latin typeface="Aptos"/>
              </a:rPr>
              <a:t>Függvény grafikonja (görbéje)</a:t>
            </a: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100" spc="-1" strike="noStrike">
                <a:solidFill>
                  <a:srgbClr val="000000"/>
                </a:solidFill>
                <a:latin typeface="Aptos"/>
              </a:rPr>
              <a:t>Inverz függvény</a:t>
            </a: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100" spc="-1" strike="noStrike">
                <a:solidFill>
                  <a:srgbClr val="000000"/>
                </a:solidFill>
                <a:latin typeface="Aptos"/>
              </a:rPr>
              <a:t>Kölcsönösen egyértelmű függvény</a:t>
            </a: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100" spc="-1" strike="noStrike">
                <a:solidFill>
                  <a:srgbClr val="000000"/>
                </a:solidFill>
                <a:latin typeface="Aptos"/>
              </a:rPr>
              <a:t>Függvény értelmezési tartományának leszűkítése</a:t>
            </a: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100" spc="-1" strike="noStrike">
                <a:solidFill>
                  <a:srgbClr val="000000"/>
                </a:solidFill>
                <a:latin typeface="Aptos"/>
              </a:rPr>
              <a:t>Összetett függvény</a:t>
            </a: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hu-HU" sz="3300" spc="-1" strike="noStrike">
                <a:solidFill>
                  <a:srgbClr val="000000"/>
                </a:solidFill>
                <a:latin typeface="Aptos Display"/>
              </a:rPr>
              <a:t>9B/162. o.</a:t>
            </a:r>
            <a:endParaRPr b="0" lang="hu-HU" sz="3300" spc="-1" strike="noStrike">
              <a:solidFill>
                <a:srgbClr val="000000"/>
              </a:solidFill>
              <a:latin typeface="Aptos"/>
            </a:endParaRPr>
          </a:p>
        </p:txBody>
      </p:sp>
      <p:pic>
        <p:nvPicPr>
          <p:cNvPr id="107" name="Kép 4" descr=""/>
          <p:cNvPicPr/>
          <p:nvPr/>
        </p:nvPicPr>
        <p:blipFill>
          <a:blip r:embed="rId1"/>
          <a:srcRect l="1177" t="0" r="1963" b="0"/>
          <a:stretch/>
        </p:blipFill>
        <p:spPr>
          <a:xfrm>
            <a:off x="143640" y="1989000"/>
            <a:ext cx="8856720" cy="423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hu-HU" sz="3300" spc="-1" strike="noStrike">
                <a:solidFill>
                  <a:srgbClr val="000000"/>
                </a:solidFill>
                <a:latin typeface="Aptos Display"/>
              </a:rPr>
              <a:t>9B/168/9</a:t>
            </a:r>
            <a:endParaRPr b="0" lang="hu-HU" sz="3300" spc="-1" strike="noStrike">
              <a:solidFill>
                <a:srgbClr val="000000"/>
              </a:solidFill>
              <a:latin typeface="Aptos"/>
            </a:endParaRPr>
          </a:p>
        </p:txBody>
      </p:sp>
      <p:pic>
        <p:nvPicPr>
          <p:cNvPr id="109" name="Kép 4" descr=""/>
          <p:cNvPicPr/>
          <p:nvPr/>
        </p:nvPicPr>
        <p:blipFill>
          <a:blip r:embed="rId1"/>
          <a:srcRect l="5900" t="7759" r="1174" b="0"/>
          <a:stretch/>
        </p:blipFill>
        <p:spPr>
          <a:xfrm>
            <a:off x="323640" y="1501560"/>
            <a:ext cx="8496720" cy="5014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>
              <a:lnSpc>
                <a:spcPct val="90000"/>
              </a:lnSpc>
              <a:buNone/>
            </a:pPr>
            <a:r>
              <a:rPr b="0" lang="hu-HU" sz="2800" spc="-1" strike="noStrike">
                <a:solidFill>
                  <a:srgbClr val="000000"/>
                </a:solidFill>
                <a:latin typeface="Aptos Display"/>
              </a:rPr>
              <a:t>Függvénytípusok, függvénytulajdonságok</a:t>
            </a:r>
            <a:br>
              <a:rPr sz="2800"/>
            </a:br>
            <a:endParaRPr b="0" lang="hu-HU" sz="2800" spc="-1" strike="noStrike">
              <a:solidFill>
                <a:srgbClr val="000000"/>
              </a:solidFill>
              <a:latin typeface="Aptos"/>
            </a:endParaRPr>
          </a:p>
        </p:txBody>
      </p:sp>
      <p:graphicFrame>
        <p:nvGraphicFramePr>
          <p:cNvPr id="111" name="Táblázat 4"/>
          <p:cNvGraphicFramePr/>
          <p:nvPr/>
        </p:nvGraphicFramePr>
        <p:xfrm>
          <a:off x="661680" y="945720"/>
          <a:ext cx="7992360" cy="3418560"/>
        </p:xfrm>
        <a:graphic>
          <a:graphicData uri="http://schemas.openxmlformats.org/drawingml/2006/table">
            <a:tbl>
              <a:tblPr/>
              <a:tblGrid>
                <a:gridCol w="1368000"/>
                <a:gridCol w="3168000"/>
                <a:gridCol w="3456360"/>
              </a:tblGrid>
              <a:tr h="8017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hu-HU" sz="2400" spc="-1" strike="noStrike">
                          <a:solidFill>
                            <a:srgbClr val="000000"/>
                          </a:solidFill>
                          <a:latin typeface="Aptos"/>
                        </a:rPr>
                        <a:t>8-9. o.</a:t>
                      </a:r>
                      <a:endParaRPr b="0" lang="en-US" sz="2400" spc="-1" strike="noStrike"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hu-HU" sz="2400" spc="-1" strike="noStrike">
                          <a:solidFill>
                            <a:srgbClr val="000000"/>
                          </a:solidFill>
                          <a:latin typeface="Aptos"/>
                        </a:rPr>
                        <a:t>Lineáris fgv.</a:t>
                      </a:r>
                      <a:endParaRPr b="0" lang="en-US" sz="2400" spc="-1" strike="noStrike"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hu-HU" sz="2400" spc="-1" strike="noStrike">
                          <a:solidFill>
                            <a:srgbClr val="000000"/>
                          </a:solidFill>
                          <a:latin typeface="Aptos"/>
                        </a:rPr>
                        <a:t>monotonitás, zérushely</a:t>
                      </a:r>
                      <a:endParaRPr b="0" lang="en-US" sz="2400" spc="-1" strike="noStrike"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8017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hu-HU" sz="2400" spc="-1" strike="noStrike">
                          <a:solidFill>
                            <a:srgbClr val="000000"/>
                          </a:solidFill>
                          <a:latin typeface="Aptos"/>
                        </a:rPr>
                        <a:t>9. o.</a:t>
                      </a:r>
                      <a:endParaRPr b="0" lang="en-US" sz="2400" spc="-1" strike="noStrike"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00">
                        <a:alpha val="20000"/>
                      </a:srgb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hu-HU" sz="2400" spc="-1" strike="noStrike">
                          <a:solidFill>
                            <a:srgbClr val="000000"/>
                          </a:solidFill>
                          <a:latin typeface="Aptos"/>
                        </a:rPr>
                        <a:t>Abszolútérték fgv.</a:t>
                      </a:r>
                      <a:endParaRPr b="0" lang="en-US" sz="2400" spc="-1" strike="noStrike"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00">
                        <a:alpha val="20000"/>
                      </a:srgb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hu-HU" sz="2400" spc="-1" strike="noStrike">
                          <a:solidFill>
                            <a:srgbClr val="000000"/>
                          </a:solidFill>
                          <a:latin typeface="Aptos"/>
                        </a:rPr>
                        <a:t>szélsőérték, párosság</a:t>
                      </a:r>
                      <a:endParaRPr b="0" lang="en-US" sz="240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00">
                        <a:alpha val="20000"/>
                      </a:srgbClr>
                    </a:solidFill>
                  </a:tcPr>
                </a:tc>
              </a:tr>
              <a:tr h="4467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hu-HU" sz="2400" spc="-1" strike="noStrike">
                          <a:solidFill>
                            <a:srgbClr val="000000"/>
                          </a:solidFill>
                          <a:latin typeface="Aptos"/>
                        </a:rPr>
                        <a:t>9. o.</a:t>
                      </a:r>
                      <a:endParaRPr b="0" lang="en-US" sz="2400" spc="-1" strike="noStrike"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hu-HU" sz="2400" spc="-1" strike="noStrike">
                          <a:solidFill>
                            <a:srgbClr val="000000"/>
                          </a:solidFill>
                          <a:latin typeface="Aptos"/>
                        </a:rPr>
                        <a:t>Lineáris törtfgv.</a:t>
                      </a:r>
                      <a:endParaRPr b="0" lang="en-US" sz="2400" spc="-1" strike="noStrike"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hu-HU" sz="2400" spc="-1" strike="noStrike">
                          <a:solidFill>
                            <a:srgbClr val="000000"/>
                          </a:solidFill>
                          <a:latin typeface="Aptos"/>
                        </a:rPr>
                        <a:t>szakadás, páratlanság</a:t>
                      </a:r>
                      <a:endParaRPr b="0" lang="en-US" sz="240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017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hu-HU" sz="2400" spc="-1" strike="noStrike">
                          <a:solidFill>
                            <a:srgbClr val="000000"/>
                          </a:solidFill>
                          <a:latin typeface="Aptos"/>
                        </a:rPr>
                        <a:t>9-10. o.</a:t>
                      </a:r>
                      <a:endParaRPr b="0" lang="en-US" sz="2400" spc="-1" strike="noStrike"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00">
                        <a:alpha val="20000"/>
                      </a:srgb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hu-HU" sz="2400" spc="-1" strike="noStrike">
                          <a:solidFill>
                            <a:srgbClr val="000000"/>
                          </a:solidFill>
                          <a:latin typeface="Aptos"/>
                        </a:rPr>
                        <a:t>Másodfokú fgv. </a:t>
                      </a:r>
                      <a:endParaRPr b="0" lang="en-US" sz="2400" spc="-1" strike="noStrike"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00">
                        <a:alpha val="20000"/>
                      </a:srgb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hu-HU" sz="2400" spc="-1" strike="noStrike">
                          <a:solidFill>
                            <a:srgbClr val="000000"/>
                          </a:solidFill>
                          <a:latin typeface="Aptos"/>
                        </a:rPr>
                        <a:t>szakadás, páratlanság</a:t>
                      </a:r>
                      <a:endParaRPr b="0" lang="en-US" sz="2400" spc="-1" strike="noStrike"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00">
                        <a:alpha val="20000"/>
                      </a:srgbClr>
                    </a:solidFill>
                  </a:tcPr>
                </a:tc>
              </a:tr>
              <a:tr h="4467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hu-HU" sz="2400" spc="-1" strike="noStrike">
                          <a:solidFill>
                            <a:srgbClr val="000000"/>
                          </a:solidFill>
                          <a:latin typeface="Aptos"/>
                        </a:rPr>
                        <a:t>9-10. o.</a:t>
                      </a:r>
                      <a:endParaRPr b="0" lang="en-US" sz="2400" spc="-1" strike="noStrike"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hu-HU" sz="2400" spc="-1" strike="noStrike">
                          <a:solidFill>
                            <a:srgbClr val="000000"/>
                          </a:solidFill>
                          <a:latin typeface="Aptos"/>
                        </a:rPr>
                        <a:t>Négyzetgyökfgv.</a:t>
                      </a:r>
                      <a:endParaRPr b="0" lang="en-US" sz="2400" spc="-1" strike="noStrike"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hu-HU" sz="2400" spc="-1" strike="noStrike">
                          <a:solidFill>
                            <a:srgbClr val="000000"/>
                          </a:solidFill>
                          <a:latin typeface="Aptos"/>
                        </a:rPr>
                        <a:t>invertálhatóság</a:t>
                      </a:r>
                      <a:endParaRPr b="0" lang="en-US" sz="2400" spc="-1" strike="noStrike"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017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hu-HU" sz="2400" spc="-1" strike="noStrike">
                          <a:solidFill>
                            <a:srgbClr val="000000"/>
                          </a:solidFill>
                          <a:latin typeface="Aptos"/>
                        </a:rPr>
                        <a:t>10-11. o.</a:t>
                      </a:r>
                      <a:endParaRPr b="0" lang="en-US" sz="2400" spc="-1" strike="noStrike"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00">
                        <a:alpha val="20000"/>
                      </a:srgb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hu-HU" sz="2400" spc="-1" strike="noStrike">
                          <a:solidFill>
                            <a:srgbClr val="000000"/>
                          </a:solidFill>
                          <a:latin typeface="Aptos"/>
                        </a:rPr>
                        <a:t>Hatványfgv-ek</a:t>
                      </a:r>
                      <a:endParaRPr b="0" lang="en-US" sz="2400" spc="-1" strike="noStrike"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00">
                        <a:alpha val="20000"/>
                      </a:srgb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hu-HU" sz="2400" spc="-1" strike="noStrike">
                          <a:solidFill>
                            <a:srgbClr val="000000"/>
                          </a:solidFill>
                          <a:latin typeface="Aptos"/>
                        </a:rPr>
                        <a:t>paritás</a:t>
                      </a:r>
                      <a:endParaRPr b="0" lang="en-US" sz="2400" spc="-1" strike="noStrike"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00">
                        <a:alpha val="20000"/>
                      </a:srgbClr>
                    </a:solidFill>
                  </a:tcPr>
                </a:tc>
              </a:tr>
              <a:tr h="8017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hu-HU" sz="2400" spc="-1" strike="noStrike">
                          <a:solidFill>
                            <a:srgbClr val="000000"/>
                          </a:solidFill>
                          <a:latin typeface="Aptos"/>
                        </a:rPr>
                        <a:t>10-11. o.</a:t>
                      </a:r>
                      <a:endParaRPr b="0" lang="en-US" sz="2400" spc="-1" strike="noStrike"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hu-HU" sz="2400" spc="-1" strike="noStrike">
                          <a:solidFill>
                            <a:srgbClr val="000000"/>
                          </a:solidFill>
                          <a:latin typeface="Aptos"/>
                        </a:rPr>
                        <a:t>Trigonometrikus fgv-ek</a:t>
                      </a:r>
                      <a:endParaRPr b="0" lang="en-US" sz="2400" spc="-1" strike="noStrike"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hu-HU" sz="2400" spc="-1" strike="noStrike">
                          <a:solidFill>
                            <a:srgbClr val="000000"/>
                          </a:solidFill>
                          <a:latin typeface="Aptos"/>
                        </a:rPr>
                        <a:t>periodicitás, korlátosság</a:t>
                      </a:r>
                      <a:endParaRPr b="0" lang="en-US" sz="2400" spc="-1" strike="noStrike"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467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hu-HU" sz="2400" spc="-1" strike="noStrike">
                          <a:solidFill>
                            <a:srgbClr val="000000"/>
                          </a:solidFill>
                          <a:latin typeface="Aptos"/>
                        </a:rPr>
                        <a:t>11. o.</a:t>
                      </a:r>
                      <a:endParaRPr b="0" lang="en-US" sz="2400" spc="-1" strike="noStrike"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00">
                        <a:alpha val="20000"/>
                      </a:srgb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hu-HU" sz="2400" spc="-1" strike="noStrike">
                          <a:solidFill>
                            <a:srgbClr val="000000"/>
                          </a:solidFill>
                          <a:latin typeface="Aptos"/>
                        </a:rPr>
                        <a:t>Exponenciális fgv.</a:t>
                      </a:r>
                      <a:endParaRPr b="0" lang="en-US" sz="2400" spc="-1" strike="noStrike"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00">
                        <a:alpha val="20000"/>
                      </a:srgbClr>
                    </a:solidFill>
                  </a:tcPr>
                </a:tc>
                <a:tc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00">
                        <a:alpha val="20000"/>
                      </a:srgbClr>
                    </a:solidFill>
                  </a:tcPr>
                </a:tc>
              </a:tr>
              <a:tr h="4467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hu-HU" sz="2400" spc="-1" strike="noStrike">
                          <a:solidFill>
                            <a:srgbClr val="000000"/>
                          </a:solidFill>
                          <a:latin typeface="Aptos"/>
                        </a:rPr>
                        <a:t>11. o.</a:t>
                      </a:r>
                      <a:endParaRPr b="0" lang="en-US" sz="2400" spc="-1" strike="noStrike"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hu-HU" sz="2400" spc="-1" strike="noStrike">
                          <a:solidFill>
                            <a:srgbClr val="000000"/>
                          </a:solidFill>
                          <a:latin typeface="Aptos"/>
                        </a:rPr>
                        <a:t>Logaritmus fgv.</a:t>
                      </a:r>
                      <a:endParaRPr b="0" lang="en-US" sz="2400" spc="-1" strike="noStrike"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hu-HU" sz="3300" spc="-1" strike="noStrike">
                <a:solidFill>
                  <a:srgbClr val="000000"/>
                </a:solidFill>
                <a:latin typeface="Aptos Display"/>
              </a:rPr>
              <a:t>Függvénytranszformációk</a:t>
            </a:r>
            <a:endParaRPr b="0" lang="hu-HU" sz="33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788652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Változó-transzformációk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lvl="1" marL="514440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algn="l" pos="2238480"/>
              </a:tabLst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	</a:t>
            </a: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eltolás az x tengely mentén,  egységgel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lvl="1" marL="514440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algn="l" pos="2238480"/>
              </a:tabLst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	</a:t>
            </a: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 </a:t>
            </a: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- szeres nyújtás az x tengely mentén 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lvl="1" marL="514440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algn="l" pos="2238480"/>
              </a:tabLst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 </a:t>
            </a: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	</a:t>
            </a: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tükrözés az y tengelyre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tabLst>
                <a:tab algn="l" pos="2238480"/>
              </a:tabLst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Érték-transzformációk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lvl="1" marL="514440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algn="l" pos="2238480"/>
              </a:tabLst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	</a:t>
            </a: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eltolás az y tengely mentén,  egységgel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lvl="1" marL="514440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algn="l" pos="2238480"/>
              </a:tabLst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	</a:t>
            </a: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-szeres nyújtás az y tengely mentén 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lvl="1" marL="514440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algn="l" pos="2238480"/>
              </a:tabLst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	</a:t>
            </a: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tükrözés az x tengelyre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hu-HU" sz="3300" spc="-1" strike="noStrike">
                <a:solidFill>
                  <a:srgbClr val="000000"/>
                </a:solidFill>
                <a:latin typeface="Aptos Display"/>
              </a:rPr>
              <a:t>9B/308/2.</a:t>
            </a:r>
            <a:endParaRPr b="0" lang="hu-HU" sz="3300" spc="-1" strike="noStrike">
              <a:solidFill>
                <a:srgbClr val="000000"/>
              </a:solidFill>
              <a:latin typeface="Aptos"/>
            </a:endParaRPr>
          </a:p>
        </p:txBody>
      </p:sp>
      <p:pic>
        <p:nvPicPr>
          <p:cNvPr id="115" name="Kép 4" descr=""/>
          <p:cNvPicPr/>
          <p:nvPr/>
        </p:nvPicPr>
        <p:blipFill>
          <a:blip r:embed="rId1"/>
          <a:stretch/>
        </p:blipFill>
        <p:spPr>
          <a:xfrm>
            <a:off x="109080" y="3071880"/>
            <a:ext cx="8925840" cy="714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>
              <a:lnSpc>
                <a:spcPct val="90000"/>
              </a:lnSpc>
              <a:buNone/>
            </a:pPr>
            <a:r>
              <a:rPr b="0" lang="hu-HU" sz="3300" spc="-1" strike="noStrike">
                <a:solidFill>
                  <a:srgbClr val="000000"/>
                </a:solidFill>
                <a:latin typeface="Aptos Display"/>
              </a:rPr>
              <a:t>Függvényábrázolás:</a:t>
            </a:r>
            <a:br>
              <a:rPr sz="3300"/>
            </a:br>
            <a:r>
              <a:rPr b="0" lang="hu-HU" sz="3300" spc="-1" strike="noStrike">
                <a:solidFill>
                  <a:srgbClr val="000000"/>
                </a:solidFill>
                <a:latin typeface="Aptos Display"/>
              </a:rPr>
              <a:t>Grafikon és képlet kapcsolata</a:t>
            </a:r>
            <a:endParaRPr b="0" lang="hu-HU" sz="33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788652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100" spc="-1" strike="noStrike">
                <a:solidFill>
                  <a:srgbClr val="000000"/>
                </a:solidFill>
                <a:latin typeface="Aptos"/>
              </a:rPr>
              <a:t>Lineáris függvények:  </a:t>
            </a: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100" spc="-1" strike="noStrike">
                <a:solidFill>
                  <a:srgbClr val="000000"/>
                </a:solidFill>
                <a:latin typeface="Aptos"/>
              </a:rPr>
              <a:t>Abszolútérték függvények:  ; </a:t>
            </a: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  <a:p>
            <a:pPr marL="6876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hu-HU" sz="2100" spc="-1" strike="noStrike">
                <a:solidFill>
                  <a:srgbClr val="000000"/>
                </a:solidFill>
                <a:latin typeface="Aptos"/>
              </a:rPr>
              <a:t>	</a:t>
            </a:r>
            <a:r>
              <a:rPr b="0" lang="hu-HU" sz="2100" spc="-1" strike="noStrike">
                <a:solidFill>
                  <a:srgbClr val="000000"/>
                </a:solidFill>
                <a:latin typeface="Aptos"/>
              </a:rPr>
              <a:t>	</a:t>
            </a:r>
            <a:r>
              <a:rPr b="0" lang="hu-HU" sz="2100" spc="-1" strike="noStrike">
                <a:solidFill>
                  <a:srgbClr val="000000"/>
                </a:solidFill>
                <a:latin typeface="Aptos"/>
              </a:rPr>
              <a:t>	</a:t>
            </a:r>
            <a:r>
              <a:rPr b="0" lang="hu-HU" sz="2100" spc="-1" strike="noStrike">
                <a:solidFill>
                  <a:srgbClr val="000000"/>
                </a:solidFill>
                <a:latin typeface="Aptos"/>
              </a:rPr>
              <a:t>	</a:t>
            </a: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hu-HU" sz="2100" spc="-1" strike="noStrike">
                <a:solidFill>
                  <a:srgbClr val="000000"/>
                </a:solidFill>
                <a:latin typeface="Aptos"/>
              </a:rPr>
              <a:t>Másodfokú függvények:  </a:t>
            </a: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  <a:p>
            <a:pPr marL="6876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hu-HU" sz="2100" spc="-1" strike="noStrike">
                <a:solidFill>
                  <a:srgbClr val="000000"/>
                </a:solidFill>
                <a:latin typeface="Aptos"/>
              </a:rPr>
              <a:t>	</a:t>
            </a:r>
            <a:r>
              <a:rPr b="0" lang="hu-HU" sz="2100" spc="-1" strike="noStrike">
                <a:solidFill>
                  <a:srgbClr val="000000"/>
                </a:solidFill>
                <a:latin typeface="Aptos"/>
              </a:rPr>
              <a:t>	</a:t>
            </a:r>
            <a:r>
              <a:rPr b="0" lang="hu-HU" sz="2100" spc="-1" strike="noStrike">
                <a:solidFill>
                  <a:srgbClr val="000000"/>
                </a:solidFill>
                <a:latin typeface="Aptos"/>
              </a:rPr>
              <a:t>	</a:t>
            </a:r>
            <a:r>
              <a:rPr b="0" lang="hu-HU" sz="2100" spc="-1" strike="noStrike">
                <a:solidFill>
                  <a:srgbClr val="000000"/>
                </a:solidFill>
                <a:latin typeface="Aptos"/>
              </a:rPr>
              <a:t> </a:t>
            </a:r>
            <a:r>
              <a:rPr b="0" lang="hu-HU" sz="2100" spc="-1" strike="noStrike">
                <a:solidFill>
                  <a:srgbClr val="000000"/>
                </a:solidFill>
                <a:latin typeface="Aptos"/>
              </a:rPr>
              <a:t>(teljes négyzetté alakítás)</a:t>
            </a: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hu-HU" sz="2100" spc="-1" strike="noStrike">
                <a:solidFill>
                  <a:srgbClr val="000000"/>
                </a:solidFill>
                <a:latin typeface="Aptos"/>
              </a:rPr>
              <a:t>Lineáris törtfüggvények: </a:t>
            </a: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hu-HU" sz="2100" spc="-1" strike="noStrike">
                <a:solidFill>
                  <a:srgbClr val="000000"/>
                </a:solidFill>
                <a:latin typeface="Aptos"/>
              </a:rPr>
              <a:t>További fgv. típusok ábrázolása a függvénytranszformációk alkalmazásával. </a:t>
            </a:r>
            <a:r>
              <a:rPr b="0" lang="hu-HU" sz="2100" spc="-1" strike="noStrike">
                <a:solidFill>
                  <a:srgbClr val="000000"/>
                </a:solidFill>
                <a:latin typeface="Symbol"/>
              </a:rPr>
              <a:t></a:t>
            </a:r>
            <a:r>
              <a:rPr b="0" lang="hu-HU" sz="2100" spc="-1" strike="noStrike">
                <a:solidFill>
                  <a:srgbClr val="000000"/>
                </a:solidFill>
                <a:latin typeface="Aptos"/>
              </a:rPr>
              <a:t> analógiás gondolkodás</a:t>
            </a: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hu-HU" sz="3300" spc="-1" strike="noStrike">
                <a:solidFill>
                  <a:srgbClr val="000000"/>
                </a:solidFill>
                <a:latin typeface="Aptos Display"/>
              </a:rPr>
              <a:t>9B/189/1.</a:t>
            </a:r>
            <a:endParaRPr b="0" lang="hu-HU" sz="3300" spc="-1" strike="noStrike">
              <a:solidFill>
                <a:srgbClr val="000000"/>
              </a:solidFill>
              <a:latin typeface="Aptos"/>
            </a:endParaRPr>
          </a:p>
        </p:txBody>
      </p:sp>
      <p:pic>
        <p:nvPicPr>
          <p:cNvPr id="119" name="Kép 4" descr=""/>
          <p:cNvPicPr/>
          <p:nvPr/>
        </p:nvPicPr>
        <p:blipFill>
          <a:blip r:embed="rId1"/>
          <a:stretch/>
        </p:blipFill>
        <p:spPr>
          <a:xfrm>
            <a:off x="151920" y="2671560"/>
            <a:ext cx="8840160" cy="1514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Picture 3" descr=""/>
          <p:cNvPicPr/>
          <p:nvPr/>
        </p:nvPicPr>
        <p:blipFill>
          <a:blip r:embed="rId1"/>
          <a:srcRect l="24992" t="36531" r="52583" b="13002"/>
          <a:stretch/>
        </p:blipFill>
        <p:spPr>
          <a:xfrm>
            <a:off x="3492000" y="116640"/>
            <a:ext cx="5400360" cy="5754600"/>
          </a:xfrm>
          <a:prstGeom prst="rect">
            <a:avLst/>
          </a:prstGeom>
          <a:ln w="0">
            <a:noFill/>
          </a:ln>
        </p:spPr>
      </p:pic>
      <p:sp>
        <p:nvSpPr>
          <p:cNvPr id="121" name="Szövegdoboz 3"/>
          <p:cNvSpPr/>
          <p:nvPr/>
        </p:nvSpPr>
        <p:spPr>
          <a:xfrm>
            <a:off x="392040" y="476640"/>
            <a:ext cx="2808000" cy="176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Olvasd le a függvények hozzárendelési szabályát a grafikonról!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>
              <a:lnSpc>
                <a:spcPct val="90000"/>
              </a:lnSpc>
              <a:buNone/>
            </a:pPr>
            <a:r>
              <a:rPr b="0" lang="hu-HU" sz="3300" spc="-1" strike="noStrike">
                <a:solidFill>
                  <a:srgbClr val="000000"/>
                </a:solidFill>
                <a:latin typeface="Aptos Display"/>
              </a:rPr>
              <a:t>Függvények felhasználása  a feladatok megoldásában</a:t>
            </a:r>
            <a:endParaRPr b="0" lang="hu-HU" sz="33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683640" y="1412640"/>
            <a:ext cx="7772040" cy="4032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Egyenletek, egyenletrendszerek grafikus megoldása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1900" spc="-1" strike="noStrike">
              <a:solidFill>
                <a:srgbClr val="000000"/>
              </a:solidFill>
              <a:latin typeface="Aptos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Egyenlőtlenségek megoldása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lvl="1" marL="514440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Másodfokú, négyzetgyökös, exponenciális, logaritmikus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lvl="1" marL="514440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Trigonometrikus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Szélsőértékfeladatok megoldása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lvl="2" marL="857160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Határozzuk meg a 8 egység kerületű téglalapok közül azt, amelynek a területe maximális!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hu-HU" sz="3300" spc="-1" strike="noStrike">
                <a:solidFill>
                  <a:srgbClr val="000000"/>
                </a:solidFill>
                <a:latin typeface="Aptos Display"/>
              </a:rPr>
              <a:t>9B/300/8.</a:t>
            </a:r>
            <a:endParaRPr b="0" lang="hu-HU" sz="3300" spc="-1" strike="noStrike">
              <a:solidFill>
                <a:srgbClr val="000000"/>
              </a:solidFill>
              <a:latin typeface="Aptos"/>
            </a:endParaRPr>
          </a:p>
        </p:txBody>
      </p:sp>
      <p:pic>
        <p:nvPicPr>
          <p:cNvPr id="125" name="Kép 4" descr=""/>
          <p:cNvPicPr/>
          <p:nvPr/>
        </p:nvPicPr>
        <p:blipFill>
          <a:blip r:embed="rId1"/>
          <a:stretch/>
        </p:blipFill>
        <p:spPr>
          <a:xfrm>
            <a:off x="628560" y="2001240"/>
            <a:ext cx="7776360" cy="1439640"/>
          </a:xfrm>
          <a:prstGeom prst="rect">
            <a:avLst/>
          </a:prstGeom>
          <a:ln w="0">
            <a:noFill/>
          </a:ln>
        </p:spPr>
      </p:pic>
      <p:pic>
        <p:nvPicPr>
          <p:cNvPr id="126" name="Kép 7" descr=""/>
          <p:cNvPicPr/>
          <p:nvPr/>
        </p:nvPicPr>
        <p:blipFill>
          <a:blip r:embed="rId2"/>
          <a:stretch/>
        </p:blipFill>
        <p:spPr>
          <a:xfrm>
            <a:off x="4691880" y="2931480"/>
            <a:ext cx="3744000" cy="3561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>
              <a:lnSpc>
                <a:spcPct val="90000"/>
              </a:lnSpc>
              <a:buNone/>
            </a:pPr>
            <a:r>
              <a:rPr b="0" lang="hu-HU" sz="3300" spc="-1" strike="noStrike">
                <a:solidFill>
                  <a:srgbClr val="000000"/>
                </a:solidFill>
                <a:latin typeface="Aptos Display"/>
              </a:rPr>
              <a:t>Függvények megjelenése más matematikai témakörökben</a:t>
            </a:r>
            <a:endParaRPr b="0" lang="hu-HU" sz="33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788652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400" spc="-1" strike="noStrike">
                <a:solidFill>
                  <a:srgbClr val="000000"/>
                </a:solidFill>
                <a:latin typeface="Aptos"/>
              </a:rPr>
              <a:t>Sorozatok</a:t>
            </a:r>
            <a:endParaRPr b="0" lang="hu-HU" sz="2400" spc="-1" strike="noStrike">
              <a:solidFill>
                <a:srgbClr val="000000"/>
              </a:solidFill>
              <a:latin typeface="Aptos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400" spc="-1" strike="noStrike">
                <a:solidFill>
                  <a:srgbClr val="000000"/>
                </a:solidFill>
                <a:latin typeface="Aptos"/>
              </a:rPr>
              <a:t>Geometriai transzformációk – pontfüggvények</a:t>
            </a:r>
            <a:endParaRPr b="0" lang="hu-HU" sz="2400" spc="-1" strike="noStrike">
              <a:solidFill>
                <a:srgbClr val="000000"/>
              </a:solidFill>
              <a:latin typeface="Aptos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400" spc="-1" strike="noStrike">
                <a:solidFill>
                  <a:srgbClr val="000000"/>
                </a:solidFill>
                <a:latin typeface="Aptos"/>
              </a:rPr>
              <a:t>Geometriai mérések – alakzatokhoz számot rendelnek</a:t>
            </a:r>
            <a:endParaRPr b="0" lang="hu-HU" sz="2400" spc="-1" strike="noStrike">
              <a:solidFill>
                <a:srgbClr val="000000"/>
              </a:solidFill>
              <a:latin typeface="Aptos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400" spc="-1" strike="noStrike">
                <a:solidFill>
                  <a:srgbClr val="000000"/>
                </a:solidFill>
                <a:latin typeface="Aptos"/>
              </a:rPr>
              <a:t>Valószínűség – eseményhez számot rendelnek</a:t>
            </a:r>
            <a:endParaRPr b="0" lang="hu-HU" sz="2400" spc="-1" strike="noStrike">
              <a:solidFill>
                <a:srgbClr val="000000"/>
              </a:solidFill>
              <a:latin typeface="Aptos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400" spc="-1" strike="noStrike">
                <a:solidFill>
                  <a:srgbClr val="000000"/>
                </a:solidFill>
                <a:latin typeface="Aptos"/>
              </a:rPr>
              <a:t>Számelméleti függvények (pl. osztók száma)</a:t>
            </a:r>
            <a:endParaRPr b="0" lang="hu-HU" sz="2400" spc="-1" strike="noStrike">
              <a:solidFill>
                <a:srgbClr val="000000"/>
              </a:solidFill>
              <a:latin typeface="Aptos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400" spc="-1" strike="noStrike">
                <a:solidFill>
                  <a:srgbClr val="000000"/>
                </a:solidFill>
                <a:latin typeface="Aptos"/>
              </a:rPr>
              <a:t>Számhalmazokon értelmezett alapműveletek – kétváltozós függvények</a:t>
            </a:r>
            <a:endParaRPr b="0" lang="hu-HU" sz="2400" spc="-1" strike="noStrike">
              <a:solidFill>
                <a:srgbClr val="000000"/>
              </a:solidFill>
              <a:latin typeface="Aptos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400" spc="-1" strike="noStrike">
                <a:solidFill>
                  <a:srgbClr val="000000"/>
                </a:solidFill>
                <a:latin typeface="Aptos"/>
              </a:rPr>
              <a:t>Statisztika – vonaldiagramok időbeli változás leírására</a:t>
            </a:r>
            <a:endParaRPr b="0" lang="hu-HU" sz="24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>
              <a:lnSpc>
                <a:spcPct val="90000"/>
              </a:lnSpc>
              <a:buNone/>
            </a:pPr>
            <a:r>
              <a:rPr b="0" lang="hu-HU" sz="3300" spc="-1" strike="noStrike">
                <a:solidFill>
                  <a:srgbClr val="000000"/>
                </a:solidFill>
                <a:latin typeface="Aptos Display"/>
              </a:rPr>
              <a:t>Sorozat fogalma, megadási módjai</a:t>
            </a:r>
            <a:endParaRPr b="0" lang="hu-HU" sz="33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788652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A sorozat olyan függvény, melynek értelmezési tartománya a pozitív egész számok halmaza.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Számsorozat: A sorozat </a:t>
            </a:r>
            <a:r>
              <a:rPr b="0" i="1" lang="hu-HU" sz="2200" spc="-1" strike="noStrike">
                <a:solidFill>
                  <a:srgbClr val="000000"/>
                </a:solidFill>
                <a:latin typeface="Aptos"/>
              </a:rPr>
              <a:t>tagjai</a:t>
            </a: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 valamely számhalmaz </a:t>
            </a:r>
            <a:r>
              <a:rPr b="0" i="1" lang="hu-HU" sz="2200" spc="-1" strike="noStrike">
                <a:solidFill>
                  <a:srgbClr val="000000"/>
                </a:solidFill>
                <a:latin typeface="Aptos"/>
              </a:rPr>
              <a:t>eleme</a:t>
            </a: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i.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Megadási módok: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lvl="1" marL="514440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Az első néhány tag felsorolásával: ez nem egyértelmű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lvl="1" marL="514440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Általános taggal: pl.  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lvl="1" marL="514440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Rekurzív módon: pl.  ; 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>
              <a:lnSpc>
                <a:spcPct val="90000"/>
              </a:lnSpc>
              <a:spcBef>
                <a:spcPts val="751"/>
              </a:spcBef>
              <a:buNone/>
            </a:pP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>
              <a:lnSpc>
                <a:spcPct val="90000"/>
              </a:lnSpc>
              <a:buNone/>
            </a:pPr>
            <a:r>
              <a:rPr b="0" lang="hu-HU" sz="3300" spc="-1" strike="noStrike">
                <a:solidFill>
                  <a:srgbClr val="000000"/>
                </a:solidFill>
                <a:latin typeface="Aptos Display"/>
              </a:rPr>
              <a:t>A sorozat fogalmának előkészítése általános iskolában</a:t>
            </a:r>
            <a:endParaRPr b="0" lang="hu-HU" sz="33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788652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Tárgysorozatok,  jelsorozatok, számsorozatok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>
              <a:lnSpc>
                <a:spcPct val="90000"/>
              </a:lnSpc>
              <a:spcBef>
                <a:spcPts val="751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  <a:p>
            <a:pPr>
              <a:lnSpc>
                <a:spcPct val="90000"/>
              </a:lnSpc>
              <a:spcBef>
                <a:spcPts val="751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  <a:p>
            <a:pPr>
              <a:lnSpc>
                <a:spcPct val="90000"/>
              </a:lnSpc>
              <a:spcBef>
                <a:spcPts val="751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  <a:p>
            <a:pPr>
              <a:lnSpc>
                <a:spcPct val="90000"/>
              </a:lnSpc>
              <a:spcBef>
                <a:spcPts val="751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pic>
        <p:nvPicPr>
          <p:cNvPr id="133" name="Picture 3" descr=""/>
          <p:cNvPicPr/>
          <p:nvPr/>
        </p:nvPicPr>
        <p:blipFill>
          <a:blip r:embed="rId1"/>
          <a:srcRect l="23984" t="49027" r="40547" b="39859"/>
          <a:stretch/>
        </p:blipFill>
        <p:spPr>
          <a:xfrm>
            <a:off x="971640" y="2312640"/>
            <a:ext cx="6984360" cy="1230480"/>
          </a:xfrm>
          <a:prstGeom prst="rect">
            <a:avLst/>
          </a:prstGeom>
          <a:ln w="0">
            <a:noFill/>
          </a:ln>
        </p:spPr>
      </p:pic>
      <p:pic>
        <p:nvPicPr>
          <p:cNvPr id="134" name="Picture 4" descr=""/>
          <p:cNvPicPr/>
          <p:nvPr/>
        </p:nvPicPr>
        <p:blipFill>
          <a:blip r:embed="rId2"/>
          <a:srcRect l="23672" t="39998" r="40469" b="38208"/>
          <a:stretch/>
        </p:blipFill>
        <p:spPr>
          <a:xfrm>
            <a:off x="946440" y="3763080"/>
            <a:ext cx="6994800" cy="2390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/>
          </p:nvPr>
        </p:nvSpPr>
        <p:spPr>
          <a:xfrm>
            <a:off x="685800" y="764640"/>
            <a:ext cx="7772040" cy="45687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Szabályfelismerés, szabálykövetés, szabály megfogalmazása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>
              <a:lnSpc>
                <a:spcPct val="90000"/>
              </a:lnSpc>
              <a:spcBef>
                <a:spcPts val="751"/>
              </a:spcBef>
              <a:buNone/>
            </a:pP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>
              <a:lnSpc>
                <a:spcPct val="90000"/>
              </a:lnSpc>
              <a:spcBef>
                <a:spcPts val="751"/>
              </a:spcBef>
              <a:buNone/>
            </a:pP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>
              <a:lnSpc>
                <a:spcPct val="90000"/>
              </a:lnSpc>
              <a:spcBef>
                <a:spcPts val="751"/>
              </a:spcBef>
              <a:buNone/>
            </a:pP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>
              <a:lnSpc>
                <a:spcPct val="90000"/>
              </a:lnSpc>
              <a:spcBef>
                <a:spcPts val="751"/>
              </a:spcBef>
              <a:buNone/>
            </a:pP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>
              <a:lnSpc>
                <a:spcPct val="90000"/>
              </a:lnSpc>
              <a:spcBef>
                <a:spcPts val="751"/>
              </a:spcBef>
              <a:buNone/>
            </a:pP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>
              <a:lnSpc>
                <a:spcPct val="90000"/>
              </a:lnSpc>
              <a:spcBef>
                <a:spcPts val="751"/>
              </a:spcBef>
              <a:buNone/>
            </a:pP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Speciális sorozatok: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lvl="1" marL="514440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Állandó vagy változó különbségű sorozatok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lvl="1" marL="514440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Állandó vagy változó hányadosú sorozatok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</p:txBody>
      </p:sp>
      <p:pic>
        <p:nvPicPr>
          <p:cNvPr id="136" name="Picture 2" descr=""/>
          <p:cNvPicPr/>
          <p:nvPr/>
        </p:nvPicPr>
        <p:blipFill>
          <a:blip r:embed="rId1"/>
          <a:srcRect l="11171" t="23120" r="29467" b="53332"/>
          <a:stretch/>
        </p:blipFill>
        <p:spPr>
          <a:xfrm>
            <a:off x="467640" y="1556640"/>
            <a:ext cx="8390880" cy="1872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>
              <a:lnSpc>
                <a:spcPct val="90000"/>
              </a:lnSpc>
              <a:buNone/>
            </a:pPr>
            <a:r>
              <a:rPr b="0" lang="hu-HU" sz="3300" spc="-1" strike="noStrike">
                <a:solidFill>
                  <a:srgbClr val="000000"/>
                </a:solidFill>
                <a:latin typeface="Aptos Display"/>
              </a:rPr>
              <a:t>Sorozatok tulajdonságai</a:t>
            </a:r>
            <a:endParaRPr b="0" lang="hu-HU" sz="33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788652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Periodicitás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Korlátosság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Monotonitás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Konvergencia – emelt szinten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Egy sorozat első három tagját megadtuk. Folytasd a sorozatot minél többféleképpen. Írd fel a kapott sorozatok képzési szabályát, majd jellemezd a sorozatokat! 3; 6; 9; …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marL="361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a) </a:t>
            </a:r>
            <a:r>
              <a:rPr b="0" lang="en-US" sz="2200" spc="-1" strike="noStrike">
                <a:solidFill>
                  <a:srgbClr val="000000"/>
                </a:solidFill>
                <a:latin typeface="Aptos"/>
              </a:rPr>
              <a:t>3, 6; 9; 12; 15; 18; </a:t>
            </a: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… b) </a:t>
            </a:r>
            <a:r>
              <a:rPr b="0" lang="en-US" sz="2200" spc="-1" strike="noStrike">
                <a:solidFill>
                  <a:srgbClr val="000000"/>
                </a:solidFill>
                <a:latin typeface="Aptos"/>
              </a:rPr>
              <a:t>3; 6, 9; 15; 24; 39; …</a:t>
            </a: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 c) </a:t>
            </a:r>
            <a:r>
              <a:rPr b="0" lang="en-US" sz="2200" spc="-1" strike="noStrike">
                <a:solidFill>
                  <a:srgbClr val="000000"/>
                </a:solidFill>
                <a:latin typeface="Aptos"/>
              </a:rPr>
              <a:t>3; 6; 9; 3, 6; 9; …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marL="361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d) </a:t>
            </a:r>
            <a:r>
              <a:rPr b="0" lang="en-US" sz="2200" spc="-1" strike="noStrike">
                <a:solidFill>
                  <a:srgbClr val="000000"/>
                </a:solidFill>
                <a:latin typeface="Aptos"/>
              </a:rPr>
              <a:t>3; 6; 9; 21, 24, 81</a:t>
            </a: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, … e) 3; 6; 9; 9; 9; 9; …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marL="6876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hu-HU" sz="3300" spc="-1" strike="noStrike">
                <a:solidFill>
                  <a:srgbClr val="000000"/>
                </a:solidFill>
                <a:latin typeface="Aptos Display"/>
              </a:rPr>
              <a:t>A számtani és a mértani sorozat</a:t>
            </a:r>
            <a:endParaRPr b="0" lang="hu-HU" sz="33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788652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400" spc="-1" strike="noStrike">
                <a:solidFill>
                  <a:srgbClr val="000000"/>
                </a:solidFill>
                <a:latin typeface="Aptos"/>
              </a:rPr>
              <a:t>Az  tag kiszámítási módja</a:t>
            </a:r>
            <a:endParaRPr b="0" lang="hu-HU" sz="2400" spc="-1" strike="noStrike">
              <a:solidFill>
                <a:srgbClr val="000000"/>
              </a:solidFill>
              <a:latin typeface="Aptos"/>
            </a:endParaRPr>
          </a:p>
          <a:p>
            <a:pPr lvl="1" marL="514440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400" spc="-1" strike="noStrike">
                <a:solidFill>
                  <a:srgbClr val="000000"/>
                </a:solidFill>
                <a:latin typeface="Aptos"/>
              </a:rPr>
              <a:t>Bizonyítás teljes indukcióval</a:t>
            </a:r>
            <a:endParaRPr b="0" lang="hu-HU" sz="2400" spc="-1" strike="noStrike">
              <a:solidFill>
                <a:srgbClr val="000000"/>
              </a:solidFill>
              <a:latin typeface="Aptos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400" spc="-1" strike="noStrike">
                <a:solidFill>
                  <a:srgbClr val="000000"/>
                </a:solidFill>
                <a:latin typeface="Aptos"/>
              </a:rPr>
              <a:t>Az első  tag összege</a:t>
            </a:r>
            <a:endParaRPr b="0" lang="hu-HU" sz="2400" spc="-1" strike="noStrike">
              <a:solidFill>
                <a:srgbClr val="000000"/>
              </a:solidFill>
              <a:latin typeface="Aptos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400" spc="-1" strike="noStrike">
                <a:solidFill>
                  <a:srgbClr val="000000"/>
                </a:solidFill>
                <a:latin typeface="Aptos"/>
              </a:rPr>
              <a:t>Az elnevezések indoklása</a:t>
            </a:r>
            <a:endParaRPr b="0" lang="hu-HU" sz="2400" spc="-1" strike="noStrike">
              <a:solidFill>
                <a:srgbClr val="000000"/>
              </a:solidFill>
              <a:latin typeface="Aptos"/>
            </a:endParaRPr>
          </a:p>
          <a:p>
            <a:pPr lvl="1" marL="514440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400" spc="-1" strike="noStrike">
                <a:solidFill>
                  <a:srgbClr val="000000"/>
                </a:solidFill>
                <a:latin typeface="Aptos"/>
              </a:rPr>
              <a:t>A számtani/mértani sorozat tetszőleges tagja a rá szimmetrikusan elhelyezkedő tagjainak számtani/mértani közepe.</a:t>
            </a:r>
            <a:endParaRPr b="0" lang="hu-HU" sz="24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>
              <a:lnSpc>
                <a:spcPct val="90000"/>
              </a:lnSpc>
              <a:buNone/>
            </a:pPr>
            <a:r>
              <a:rPr b="0" lang="hu-HU" sz="3300" spc="-1" strike="noStrike">
                <a:solidFill>
                  <a:srgbClr val="000000"/>
                </a:solidFill>
                <a:latin typeface="Aptos Display"/>
              </a:rPr>
              <a:t>Feladatok a számtani/mértani sorozatra</a:t>
            </a:r>
            <a:endParaRPr b="0" lang="hu-HU" sz="33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/>
          </p:nvPr>
        </p:nvSpPr>
        <p:spPr>
          <a:xfrm>
            <a:off x="683640" y="1700640"/>
            <a:ext cx="7772040" cy="3733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800" spc="-1" strike="noStrike">
                <a:solidFill>
                  <a:srgbClr val="000000"/>
                </a:solidFill>
                <a:latin typeface="Aptos"/>
              </a:rPr>
              <a:t>Fogalmak, képletek elmélyítése, egyenletrendszerek megoldása</a:t>
            </a:r>
            <a:endParaRPr b="0" lang="hu-HU" sz="2800" spc="-1" strike="noStrike">
              <a:solidFill>
                <a:srgbClr val="000000"/>
              </a:solidFill>
              <a:latin typeface="Aptos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800" spc="-1" strike="noStrike">
                <a:solidFill>
                  <a:srgbClr val="000000"/>
                </a:solidFill>
                <a:latin typeface="Aptos"/>
              </a:rPr>
              <a:t>Szöveges feladatok megoldása</a:t>
            </a:r>
            <a:endParaRPr b="0" lang="hu-HU" sz="2800" spc="-1" strike="noStrike">
              <a:solidFill>
                <a:srgbClr val="000000"/>
              </a:solidFill>
              <a:latin typeface="Aptos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800" spc="-1" strike="noStrike">
                <a:solidFill>
                  <a:srgbClr val="000000"/>
                </a:solidFill>
                <a:latin typeface="Aptos"/>
              </a:rPr>
              <a:t>Kamatos kamat számítása</a:t>
            </a:r>
            <a:endParaRPr b="0" lang="hu-HU" sz="28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hu-HU" sz="3300" spc="-1" strike="noStrike">
                <a:solidFill>
                  <a:srgbClr val="000000"/>
                </a:solidFill>
                <a:latin typeface="Aptos Display"/>
              </a:rPr>
              <a:t>12B/77/1.</a:t>
            </a:r>
            <a:endParaRPr b="0" lang="hu-HU" sz="3300" spc="-1" strike="noStrike">
              <a:solidFill>
                <a:srgbClr val="000000"/>
              </a:solidFill>
              <a:latin typeface="Aptos"/>
            </a:endParaRPr>
          </a:p>
        </p:txBody>
      </p:sp>
      <p:pic>
        <p:nvPicPr>
          <p:cNvPr id="144" name="Kép 4" descr=""/>
          <p:cNvPicPr/>
          <p:nvPr/>
        </p:nvPicPr>
        <p:blipFill>
          <a:blip r:embed="rId1"/>
          <a:srcRect l="13307" t="0" r="0" b="-8237"/>
          <a:stretch/>
        </p:blipFill>
        <p:spPr>
          <a:xfrm>
            <a:off x="265320" y="1345320"/>
            <a:ext cx="8841960" cy="965520"/>
          </a:xfrm>
          <a:prstGeom prst="rect">
            <a:avLst/>
          </a:prstGeom>
          <a:ln w="0">
            <a:noFill/>
          </a:ln>
        </p:spPr>
      </p:pic>
      <p:pic>
        <p:nvPicPr>
          <p:cNvPr id="145" name="Kép 6" descr=""/>
          <p:cNvPicPr/>
          <p:nvPr/>
        </p:nvPicPr>
        <p:blipFill>
          <a:blip r:embed="rId2"/>
          <a:stretch/>
        </p:blipFill>
        <p:spPr>
          <a:xfrm>
            <a:off x="213840" y="4005000"/>
            <a:ext cx="8944920" cy="761760"/>
          </a:xfrm>
          <a:prstGeom prst="rect">
            <a:avLst/>
          </a:prstGeom>
          <a:ln w="0">
            <a:noFill/>
          </a:ln>
        </p:spPr>
      </p:pic>
      <p:sp>
        <p:nvSpPr>
          <p:cNvPr id="146" name="Cím 1"/>
          <p:cNvSpPr/>
          <p:nvPr/>
        </p:nvSpPr>
        <p:spPr>
          <a:xfrm>
            <a:off x="467640" y="2948400"/>
            <a:ext cx="788652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>
              <a:lnSpc>
                <a:spcPct val="90000"/>
              </a:lnSpc>
              <a:buNone/>
            </a:pPr>
            <a:r>
              <a:rPr b="0" lang="hu-HU" sz="3300" spc="-1" strike="noStrike">
                <a:solidFill>
                  <a:srgbClr val="000000"/>
                </a:solidFill>
                <a:latin typeface="Aptos Display"/>
              </a:rPr>
              <a:t>12B/55/4.</a:t>
            </a:r>
            <a:endParaRPr b="0" lang="en-US" sz="3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/>
          </p:nvPr>
        </p:nvSpPr>
        <p:spPr>
          <a:xfrm>
            <a:off x="683640" y="260640"/>
            <a:ext cx="7711920" cy="54723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68760" algn="just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Könnyelmű fiatalember ismerősünk 100 000 dollár készpénzre tett szert, s első útja Monte Carlóba vezetett, ahol szerencsejátékokkal próbálta növelni vagyonát. Csakhogy már az első napon 10 dollárt vesztett, s minden ezt követő napon 3 dollárral többet, mint az előző napon.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marL="361800" indent="-276120" algn="just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ptos Display"/>
              <a:buAutoNum type="alphaLcParenR"/>
              <a:tabLst>
                <a:tab algn="l" pos="0"/>
              </a:tabLst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Mennyit vesztett az 5. napon?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marL="361800" indent="-276120" algn="just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ptos Display"/>
              <a:buAutoNum type="alphaLcParenR"/>
              <a:tabLst>
                <a:tab algn="l" pos="0"/>
              </a:tabLst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Mennyi pénze maradt az 5. nap végére?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marL="361800" indent="-276120" algn="just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ptos Display"/>
              <a:buAutoNum type="alphaLcParenR"/>
              <a:tabLst>
                <a:tab algn="l" pos="0"/>
              </a:tabLst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Jellemezze a napi veszteségekből alkotott sorozatot!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marL="361800" indent="-276120" algn="just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ptos Display"/>
              <a:buAutoNum type="alphaLcParenR"/>
              <a:tabLst>
                <a:tab algn="l" pos="0"/>
              </a:tabLst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Mennyit vesztett a 50. napon? Mennyi pénze maradt ennek a napnak a végén?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marL="361800" indent="-276120" algn="just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ptos Display"/>
              <a:buAutoNum type="alphaLcParenR"/>
              <a:tabLst>
                <a:tab algn="l" pos="0"/>
              </a:tabLst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Legfeljebb hány napig játszhatott?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marL="361800" indent="-276120" algn="just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ptos Display"/>
              <a:buAutoNum type="alphaLcParenR"/>
              <a:tabLst>
                <a:tab algn="l" pos="0"/>
              </a:tabLst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Mennyit vesztett az utolsó napon?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marL="361800" indent="-276120" algn="just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ptos Display"/>
              <a:buAutoNum type="alphaLcParenR"/>
              <a:tabLst>
                <a:tab algn="l" pos="0"/>
              </a:tabLst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Maradt-e 250 dollárja útiköltségre, hogy sürgősen felkeresse gazdag és bőkezű nénikéjét?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3613</TotalTime>
  <Application>LibreOffice/7.3.7.2$Linux_X86_64 LibreOffice_project/30$Build-2</Application>
  <AppVersion>15.0000</AppVersion>
  <Words>981</Words>
  <Paragraphs>153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2015-10-05T18:30:34Z</dcterms:created>
  <dc:creator>Tamás</dc:creator>
  <dc:description/>
  <dc:language>en-US</dc:language>
  <cp:lastModifiedBy/>
  <dcterms:modified xsi:type="dcterms:W3CDTF">2026-01-14T21:40:44Z</dcterms:modified>
  <cp:revision>33</cp:revision>
  <dc:subject/>
  <dc:title>Függvények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Diavetítés a képernyőre (4:3 oldalarány)</vt:lpwstr>
  </property>
  <property fmtid="{D5CDD505-2E9C-101B-9397-08002B2CF9AE}" pid="4" name="Slides">
    <vt:i4>25</vt:i4>
  </property>
</Properties>
</file>